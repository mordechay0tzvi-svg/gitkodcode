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iePgCa34DrmiPSAtFPTf7DNhIi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iw-I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iw-I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" name="Google Shape;3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iw-I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iw-I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6" name="Google Shape;9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iw-I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iw-I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iw-I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iw-I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3" name="Google Shape;203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iw-I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5" name="Google Shape;235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iw-I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2" name="Google Shape;262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iw-I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8" name="Google Shape;288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iw-I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8" name="Google Shape;318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iw-I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4" name="Google Shape;344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iw-I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8" name="Google Shape;358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iw-I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8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8:notes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9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9:notes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457200" y="155448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3800" u="none" cap="none" strike="noStrike">
                <a:solidFill>
                  <a:srgbClr val="7C6CE7"/>
                </a:solidFill>
                <a:latin typeface="Calibri"/>
                <a:ea typeface="Calibri"/>
                <a:cs typeface="Calibri"/>
                <a:sym typeface="Calibri"/>
              </a:rPr>
              <a:t>Logging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2286000" y="2377440"/>
            <a:ext cx="4572000" cy="41148"/>
          </a:xfrm>
          <a:prstGeom prst="rect">
            <a:avLst/>
          </a:prstGeom>
          <a:solidFill>
            <a:srgbClr val="9B8FD4"/>
          </a:solidFill>
          <a:ln cap="flat" cmpd="sng" w="12700">
            <a:solidFill>
              <a:srgbClr val="9B8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1668780" y="3017520"/>
            <a:ext cx="1280160" cy="347472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C4B7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1668780" y="3017520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100" u="none" cap="none" strike="noStrike">
                <a:solidFill>
                  <a:srgbClr val="7C6CE7"/>
                </a:solidFill>
                <a:latin typeface="Courier New"/>
                <a:ea typeface="Courier New"/>
                <a:cs typeface="Courier New"/>
                <a:sym typeface="Courier New"/>
              </a:rPr>
              <a:t>רמות לוג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3177540" y="3017520"/>
            <a:ext cx="1280160" cy="347472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C4B7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3177540" y="3017520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100" u="none" cap="none" strike="noStrike">
                <a:solidFill>
                  <a:srgbClr val="7C6CE7"/>
                </a:solidFill>
                <a:latin typeface="Courier New"/>
                <a:ea typeface="Courier New"/>
                <a:cs typeface="Courier New"/>
                <a:sym typeface="Courier New"/>
              </a:rPr>
              <a:t>פורמט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686300" y="3017520"/>
            <a:ext cx="1280160" cy="347472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C4B7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686300" y="3017520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100" u="none" cap="none" strike="noStrike">
                <a:solidFill>
                  <a:srgbClr val="7C6CE7"/>
                </a:solidFill>
                <a:latin typeface="Courier New"/>
                <a:ea typeface="Courier New"/>
                <a:cs typeface="Courier New"/>
                <a:sym typeface="Courier New"/>
              </a:rPr>
              <a:t>שמירה לקובץ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195060" y="3017520"/>
            <a:ext cx="1280160" cy="347472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C4B7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195060" y="3017520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100" u="none" cap="none" strike="noStrike">
                <a:solidFill>
                  <a:srgbClr val="7C6CE7"/>
                </a:solidFill>
                <a:latin typeface="Courier New"/>
                <a:ea typeface="Courier New"/>
                <a:cs typeface="Courier New"/>
                <a:sym typeface="Courier New"/>
              </a:rPr>
              <a:t>Best Practices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8686800" y="486918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9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0" y="164592"/>
            <a:ext cx="9144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0" y="530352"/>
            <a:ext cx="9144000" cy="41148"/>
          </a:xfrm>
          <a:prstGeom prst="rect">
            <a:avLst/>
          </a:prstGeom>
          <a:solidFill>
            <a:srgbClr val="00BFA5"/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274320" y="621792"/>
            <a:ext cx="8595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800" u="none" cap="none" strike="noStrike">
                <a:solidFill>
                  <a:srgbClr val="7C6CE7"/>
                </a:solidFill>
                <a:latin typeface="Calibri"/>
                <a:ea typeface="Calibri"/>
                <a:cs typeface="Calibri"/>
                <a:sym typeface="Calibri"/>
              </a:rPr>
              <a:t>למה בכלל צריך לוגים?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274320" y="1078992"/>
            <a:ext cx="8595360" cy="27432"/>
          </a:xfrm>
          <a:prstGeom prst="rect">
            <a:avLst/>
          </a:prstGeom>
          <a:solidFill>
            <a:srgbClr val="9B8FD4"/>
          </a:solidFill>
          <a:ln cap="flat" cmpd="sng" w="12700">
            <a:solidFill>
              <a:srgbClr val="9B8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8686800" y="486918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9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274320" y="1325880"/>
            <a:ext cx="85953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Char char="•"/>
            </a:pPr>
            <a:r>
              <a:rPr b="0" i="0" lang="iw-IL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בלי לוגים – חקירת תקלה היא ניחוש בחשכה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Char char="•"/>
            </a:pPr>
            <a:r>
              <a:rPr b="0" i="0" lang="iw-IL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עם לוגים – אפשר לשחזר מה קרה, באיזה סדר ועל אילו נתונים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Char char="•"/>
            </a:pPr>
            <a:r>
              <a:rPr b="0" i="0" lang="iw-IL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לוגים עוזרים להבין זרימה תקינה, לא רק לתפוס שגיאות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Char char="•"/>
            </a:pPr>
            <a:r>
              <a:rPr b="0" i="0" lang="iw-IL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לוג טוב מספר: מה קרה, איפה זה קרה, ובאיזה הקשר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Char char="•"/>
            </a:pPr>
            <a:r>
              <a:rPr b="0" i="0" lang="iw-IL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Observability = היכולת להבין את מצב המערכת דרך מידע מדיד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274320" y="4576572"/>
            <a:ext cx="8595360" cy="384048"/>
          </a:xfrm>
          <a:prstGeom prst="rect">
            <a:avLst/>
          </a:prstGeom>
          <a:solidFill>
            <a:srgbClr val="E8F8F5"/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8805672" y="4576572"/>
            <a:ext cx="64008" cy="384048"/>
          </a:xfrm>
          <a:prstGeom prst="rect">
            <a:avLst/>
          </a:prstGeom>
          <a:solidFill>
            <a:srgbClr val="00BFA5"/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393192" y="4604004"/>
            <a:ext cx="8412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200" u="none" cap="none" strike="noStrike">
                <a:solidFill>
                  <a:srgbClr val="007A6A"/>
                </a:solidFill>
                <a:latin typeface="Calibri"/>
                <a:ea typeface="Calibri"/>
                <a:cs typeface="Calibri"/>
                <a:sym typeface="Calibri"/>
              </a:rPr>
              <a:t>לוגים הם הזיכרון המבצעי של התוכנה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"/>
          <p:cNvSpPr/>
          <p:nvPr/>
        </p:nvSpPr>
        <p:spPr>
          <a:xfrm>
            <a:off x="0" y="164592"/>
            <a:ext cx="9144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0" y="530352"/>
            <a:ext cx="9144000" cy="41148"/>
          </a:xfrm>
          <a:prstGeom prst="rect">
            <a:avLst/>
          </a:prstGeom>
          <a:solidFill>
            <a:srgbClr val="00BFA5"/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274320" y="621792"/>
            <a:ext cx="8595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800" u="none" cap="none" strike="noStrike">
                <a:solidFill>
                  <a:srgbClr val="7C6CE7"/>
                </a:solidFill>
                <a:latin typeface="Calibri"/>
                <a:ea typeface="Calibri"/>
                <a:cs typeface="Calibri"/>
                <a:sym typeface="Calibri"/>
              </a:rPr>
              <a:t>print מול logging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274320" y="1078992"/>
            <a:ext cx="8595360" cy="27432"/>
          </a:xfrm>
          <a:prstGeom prst="rect">
            <a:avLst/>
          </a:prstGeom>
          <a:solidFill>
            <a:srgbClr val="9B8FD4"/>
          </a:solidFill>
          <a:ln cap="flat" cmpd="sng" w="12700">
            <a:solidFill>
              <a:srgbClr val="9B8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8686800" y="486918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9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274320" y="1170000"/>
            <a:ext cx="859536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למה print לא מספיק לפרויקטים אמיתיים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274320" y="1500000"/>
            <a:ext cx="4100000" cy="290000"/>
          </a:xfrm>
          <a:prstGeom prst="rect">
            <a:avLst/>
          </a:prstGeom>
          <a:solidFill>
            <a:srgbClr val="FFF0F0"/>
          </a:solidFill>
          <a:ln cap="flat" cmpd="sng" w="15225">
            <a:solidFill>
              <a:srgbClr val="CC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274320" y="1500000"/>
            <a:ext cx="4100000" cy="2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100" u="none" cap="none" strike="noStrike">
                <a:solidFill>
                  <a:srgbClr val="AA2222"/>
                </a:solidFill>
                <a:latin typeface="Calibri"/>
                <a:ea typeface="Calibri"/>
                <a:cs typeface="Calibri"/>
                <a:sym typeface="Calibri"/>
              </a:rPr>
              <a:t>שגוי – print בלבד: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274320" y="1820000"/>
            <a:ext cx="4100000" cy="760000"/>
          </a:xfrm>
          <a:prstGeom prst="rect">
            <a:avLst/>
          </a:prstGeom>
          <a:solidFill>
            <a:srgbClr val="F7FBF9"/>
          </a:solidFill>
          <a:ln cap="flat" cmpd="sng" w="1905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274320" y="1820000"/>
            <a:ext cx="64008" cy="760000"/>
          </a:xfrm>
          <a:prstGeom prst="rect">
            <a:avLst/>
          </a:prstGeom>
          <a:solidFill>
            <a:srgbClr val="00BFA5"/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384320" y="1865700"/>
            <a:ext cx="3950000" cy="6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def save_user_to_database(user):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    print(user)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274320" y="2700000"/>
            <a:ext cx="4100000" cy="290000"/>
          </a:xfrm>
          <a:prstGeom prst="rect">
            <a:avLst/>
          </a:prstGeom>
          <a:solidFill>
            <a:srgbClr val="E8F8F5"/>
          </a:solidFill>
          <a:ln cap="flat" cmpd="sng" w="15225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274320" y="2700000"/>
            <a:ext cx="4100000" cy="2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100" u="none" cap="none" strike="noStrike">
                <a:solidFill>
                  <a:srgbClr val="007A6A"/>
                </a:solidFill>
                <a:latin typeface="Calibri"/>
                <a:ea typeface="Calibri"/>
                <a:cs typeface="Calibri"/>
                <a:sym typeface="Calibri"/>
              </a:rPr>
              <a:t>נכון – logging מסודר: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274320" y="3020000"/>
            <a:ext cx="4100000" cy="1600000"/>
          </a:xfrm>
          <a:prstGeom prst="rect">
            <a:avLst/>
          </a:prstGeom>
          <a:solidFill>
            <a:srgbClr val="F7FBF9"/>
          </a:solidFill>
          <a:ln cap="flat" cmpd="sng" w="1905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274320" y="3020000"/>
            <a:ext cx="64008" cy="1600000"/>
          </a:xfrm>
          <a:prstGeom prst="rect">
            <a:avLst/>
          </a:prstGeom>
          <a:solidFill>
            <a:srgbClr val="00BFA5"/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384320" y="3065700"/>
            <a:ext cx="3950000" cy="15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import logging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logging.basicConfig(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    level=logging.INFO,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    format='%(asctime)s | %(levelname)s | %(message)s')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logger = logging.getLogger(__name__)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def save_user_to_database(user):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    logger.info('Saving user to DB',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        extra={'user_name': user['name']})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4550000" y="1500000"/>
            <a:ext cx="4300000" cy="85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550000" y="1500000"/>
            <a:ext cx="64008" cy="850000"/>
          </a:xfrm>
          <a:prstGeom prst="rect">
            <a:avLst/>
          </a:prstGeom>
          <a:solidFill>
            <a:srgbClr val="00BFA5"/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4650000" y="1550000"/>
            <a:ext cx="415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100" u="none" cap="none" strike="noStrike">
                <a:solidFill>
                  <a:srgbClr val="7C6CE7"/>
                </a:solidFill>
                <a:latin typeface="Calibri"/>
                <a:ea typeface="Calibri"/>
                <a:cs typeface="Calibri"/>
                <a:sym typeface="Calibri"/>
              </a:rPr>
              <a:t>print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4650000" y="1880000"/>
            <a:ext cx="415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נעלם עם סיום התהליך — אין תיעוד לאחר מכן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4550000" y="2500000"/>
            <a:ext cx="4300000" cy="105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4550000" y="2500000"/>
            <a:ext cx="64008" cy="1050000"/>
          </a:xfrm>
          <a:prstGeom prst="rect">
            <a:avLst/>
          </a:prstGeom>
          <a:solidFill>
            <a:srgbClr val="00BFA5"/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4650000" y="2550000"/>
            <a:ext cx="415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100" u="none" cap="none" strike="noStrike">
                <a:solidFill>
                  <a:srgbClr val="7C6CE7"/>
                </a:solidFill>
                <a:latin typeface="Calibri"/>
                <a:ea typeface="Calibri"/>
                <a:cs typeface="Calibri"/>
                <a:sym typeface="Calibri"/>
              </a:rPr>
              <a:t>logging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4650000" y="2880000"/>
            <a:ext cx="4150000" cy="6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שמיר, עקבי, ניתן לסינון לפי רמה וסביבה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274320" y="4576572"/>
            <a:ext cx="8595360" cy="384048"/>
          </a:xfrm>
          <a:prstGeom prst="rect">
            <a:avLst/>
          </a:prstGeom>
          <a:solidFill>
            <a:srgbClr val="E8F8F5"/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8805672" y="4576572"/>
            <a:ext cx="64008" cy="384048"/>
          </a:xfrm>
          <a:prstGeom prst="rect">
            <a:avLst/>
          </a:prstGeom>
          <a:solidFill>
            <a:srgbClr val="00BFA5"/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393192" y="4604004"/>
            <a:ext cx="8412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print נעלם עם סיום התהליך – logging שמיר, עקבי וניתן לסינון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"/>
          <p:cNvSpPr/>
          <p:nvPr/>
        </p:nvSpPr>
        <p:spPr>
          <a:xfrm>
            <a:off x="0" y="164592"/>
            <a:ext cx="9144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0" y="530352"/>
            <a:ext cx="9144000" cy="41148"/>
          </a:xfrm>
          <a:prstGeom prst="rect">
            <a:avLst/>
          </a:prstGeom>
          <a:solidFill>
            <a:srgbClr val="00BFA5"/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274320" y="621792"/>
            <a:ext cx="8595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800" u="none" cap="none" strike="noStrike">
                <a:solidFill>
                  <a:srgbClr val="7C6CE7"/>
                </a:solidFill>
                <a:latin typeface="Calibri"/>
                <a:ea typeface="Calibri"/>
                <a:cs typeface="Calibri"/>
                <a:sym typeface="Calibri"/>
              </a:rPr>
              <a:t>רמות לוג – 4 רמות עיקריות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274320" y="1078992"/>
            <a:ext cx="8595360" cy="27432"/>
          </a:xfrm>
          <a:prstGeom prst="rect">
            <a:avLst/>
          </a:prstGeom>
          <a:solidFill>
            <a:srgbClr val="9B8FD4"/>
          </a:solidFill>
          <a:ln cap="flat" cmpd="sng" w="12700">
            <a:solidFill>
              <a:srgbClr val="9B8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8686800" y="486918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9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274320" y="1150000"/>
            <a:ext cx="859536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1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לא כל אירוע הוא באותה חומרה — הרמה קובעת את דחיפות הטיפול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274320" y="1500000"/>
            <a:ext cx="2050000" cy="1400000"/>
          </a:xfrm>
          <a:prstGeom prst="rect">
            <a:avLst/>
          </a:prstGeom>
          <a:solidFill>
            <a:srgbClr val="F9F9FF"/>
          </a:solidFill>
          <a:ln cap="flat" cmpd="sng" w="19050">
            <a:solidFill>
              <a:srgbClr val="6BA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274320" y="1550000"/>
            <a:ext cx="20500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400" u="none" cap="none" strike="noStrike">
                <a:solidFill>
                  <a:srgbClr val="6BA3E0"/>
                </a:solidFill>
                <a:latin typeface="Courier New"/>
                <a:ea typeface="Courier New"/>
                <a:cs typeface="Courier New"/>
                <a:sym typeface="Courier New"/>
              </a:rPr>
              <a:t>DEBUG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374320" y="2050000"/>
            <a:ext cx="1850000" cy="8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מידע מפורט לחקירה</a:t>
            </a:r>
            <a:br>
              <a:rPr b="0" i="0" lang="iw-IL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iw-IL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בזמן פיתוח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2474320" y="1500000"/>
            <a:ext cx="2050000" cy="1400000"/>
          </a:xfrm>
          <a:prstGeom prst="rect">
            <a:avLst/>
          </a:prstGeom>
          <a:solidFill>
            <a:srgbClr val="F9F9FF"/>
          </a:solidFill>
          <a:ln cap="flat" cmpd="sng" w="19050">
            <a:solidFill>
              <a:srgbClr val="44AA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2474320" y="1550000"/>
            <a:ext cx="20500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400" u="none" cap="none" strike="noStrike">
                <a:solidFill>
                  <a:srgbClr val="44AA44"/>
                </a:solidFill>
                <a:latin typeface="Courier New"/>
                <a:ea typeface="Courier New"/>
                <a:cs typeface="Courier New"/>
                <a:sym typeface="Courier New"/>
              </a:rPr>
              <a:t>INFO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2574320" y="2050000"/>
            <a:ext cx="1850000" cy="8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מהלך תקין</a:t>
            </a:r>
            <a:br>
              <a:rPr b="0" i="0" lang="iw-IL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iw-IL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של המערכת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4674320" y="1500000"/>
            <a:ext cx="2050000" cy="1400000"/>
          </a:xfrm>
          <a:prstGeom prst="rect">
            <a:avLst/>
          </a:prstGeom>
          <a:solidFill>
            <a:srgbClr val="F9F9FF"/>
          </a:solidFill>
          <a:ln cap="flat" cmpd="sng" w="19050">
            <a:solidFill>
              <a:srgbClr val="E6A8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4674320" y="1550000"/>
            <a:ext cx="20500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400" u="none" cap="none" strike="noStrike">
                <a:solidFill>
                  <a:srgbClr val="E6A817"/>
                </a:solidFill>
                <a:latin typeface="Courier New"/>
                <a:ea typeface="Courier New"/>
                <a:cs typeface="Courier New"/>
                <a:sym typeface="Courier New"/>
              </a:rPr>
              <a:t>WARNING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4774320" y="2050000"/>
            <a:ext cx="1850000" cy="8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מצב לא אידיאלי,</a:t>
            </a:r>
            <a:br>
              <a:rPr b="0" i="0" lang="iw-IL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iw-IL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המערכת עדיין עובדת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6874320" y="1500000"/>
            <a:ext cx="2050000" cy="1400000"/>
          </a:xfrm>
          <a:prstGeom prst="rect">
            <a:avLst/>
          </a:prstGeom>
          <a:solidFill>
            <a:srgbClr val="F9F9FF"/>
          </a:solidFill>
          <a:ln cap="flat" cmpd="sng" w="19050">
            <a:solidFill>
              <a:srgbClr val="CC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6874320" y="1550000"/>
            <a:ext cx="20500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400" u="none" cap="none" strike="noStrike">
                <a:solidFill>
                  <a:srgbClr val="CC4444"/>
                </a:solidFill>
                <a:latin typeface="Courier New"/>
                <a:ea typeface="Courier New"/>
                <a:cs typeface="Courier New"/>
                <a:sym typeface="Courier New"/>
              </a:rPr>
              <a:t>ERROR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6974320" y="2050000"/>
            <a:ext cx="1850000" cy="8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כשל משמעותי</a:t>
            </a:r>
            <a:br>
              <a:rPr b="0" i="0" lang="iw-IL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iw-IL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שדורש טיפול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274320" y="3050000"/>
            <a:ext cx="859536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200" u="none" cap="none" strike="noStrike">
                <a:solidFill>
                  <a:srgbClr val="7C6CE7"/>
                </a:solidFill>
                <a:latin typeface="Calibri"/>
                <a:ea typeface="Calibri"/>
                <a:cs typeface="Calibri"/>
                <a:sym typeface="Calibri"/>
              </a:rPr>
              <a:t>טעויות נפוצות ברמות: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274320" y="3380000"/>
            <a:ext cx="859536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Char char="•"/>
            </a:pPr>
            <a:r>
              <a:rPr b="0" i="0" lang="iw-IL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לכתוב הצלחה כ-ERROR במקום INFO — גורם לאזעקות שווא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Char char="•"/>
            </a:pPr>
            <a:r>
              <a:rPr b="0" i="0" lang="iw-IL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להשאיר DEBUG פעיל בפרודקשן — יוצר רעש ומאט את המערכת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Char char="•"/>
            </a:pPr>
            <a:r>
              <a:rPr b="0" i="0" lang="iw-IL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להשתמש רק ברמה אחת — מאבדים יכולת סינון וניתוח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"/>
          <p:cNvSpPr/>
          <p:nvPr/>
        </p:nvSpPr>
        <p:spPr>
          <a:xfrm>
            <a:off x="0" y="164592"/>
            <a:ext cx="9144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0" y="530352"/>
            <a:ext cx="9144000" cy="41148"/>
          </a:xfrm>
          <a:prstGeom prst="rect">
            <a:avLst/>
          </a:prstGeom>
          <a:solidFill>
            <a:srgbClr val="00BFA5"/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274320" y="621792"/>
            <a:ext cx="8595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800" u="none" cap="none" strike="noStrike">
                <a:solidFill>
                  <a:srgbClr val="7C6CE7"/>
                </a:solidFill>
                <a:latin typeface="Calibri"/>
                <a:ea typeface="Calibri"/>
                <a:cs typeface="Calibri"/>
                <a:sym typeface="Calibri"/>
              </a:rPr>
              <a:t>שימוש נכון בכל רמה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274320" y="1078992"/>
            <a:ext cx="8595360" cy="27432"/>
          </a:xfrm>
          <a:prstGeom prst="rect">
            <a:avLst/>
          </a:prstGeom>
          <a:solidFill>
            <a:srgbClr val="9B8FD4"/>
          </a:solidFill>
          <a:ln cap="flat" cmpd="sng" w="12700">
            <a:solidFill>
              <a:srgbClr val="9B8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8686800" y="486918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9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274320" y="1200000"/>
            <a:ext cx="8595360" cy="290000"/>
          </a:xfrm>
          <a:prstGeom prst="rect">
            <a:avLst/>
          </a:prstGeom>
          <a:solidFill>
            <a:srgbClr val="FFF0F0"/>
          </a:solidFill>
          <a:ln cap="flat" cmpd="sng" w="15225">
            <a:solidFill>
              <a:srgbClr val="CC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274320" y="1200000"/>
            <a:ext cx="8595360" cy="2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100" u="none" cap="none" strike="noStrike">
                <a:solidFill>
                  <a:srgbClr val="AA2222"/>
                </a:solidFill>
                <a:latin typeface="Calibri"/>
                <a:ea typeface="Calibri"/>
                <a:cs typeface="Calibri"/>
                <a:sym typeface="Calibri"/>
              </a:rPr>
              <a:t>שגוי – ERROR על אירוע תקין: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274320" y="1530000"/>
            <a:ext cx="4200000" cy="620000"/>
          </a:xfrm>
          <a:prstGeom prst="rect">
            <a:avLst/>
          </a:prstGeom>
          <a:solidFill>
            <a:srgbClr val="F7FBF9"/>
          </a:solidFill>
          <a:ln cap="flat" cmpd="sng" w="1905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274320" y="1530000"/>
            <a:ext cx="64008" cy="620000"/>
          </a:xfrm>
          <a:prstGeom prst="rect">
            <a:avLst/>
          </a:prstGeom>
          <a:solidFill>
            <a:srgbClr val="00BFA5"/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384320" y="1575700"/>
            <a:ext cx="405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logger.error('Product is available')  # לא שגיאה!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274320" y="2280000"/>
            <a:ext cx="8595360" cy="290000"/>
          </a:xfrm>
          <a:prstGeom prst="rect">
            <a:avLst/>
          </a:prstGeom>
          <a:solidFill>
            <a:srgbClr val="E8F8F5"/>
          </a:solidFill>
          <a:ln cap="flat" cmpd="sng" w="15225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274320" y="2280000"/>
            <a:ext cx="8595360" cy="2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100" u="none" cap="none" strike="noStrike">
                <a:solidFill>
                  <a:srgbClr val="007A6A"/>
                </a:solidFill>
                <a:latin typeface="Calibri"/>
                <a:ea typeface="Calibri"/>
                <a:cs typeface="Calibri"/>
                <a:sym typeface="Calibri"/>
              </a:rPr>
              <a:t>נכון – כל רמה במקומה: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274320" y="2610000"/>
            <a:ext cx="4200000" cy="2100000"/>
          </a:xfrm>
          <a:prstGeom prst="rect">
            <a:avLst/>
          </a:prstGeom>
          <a:solidFill>
            <a:srgbClr val="F7FBF9"/>
          </a:solidFill>
          <a:ln cap="flat" cmpd="sng" w="1905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274320" y="2610000"/>
            <a:ext cx="64008" cy="2100000"/>
          </a:xfrm>
          <a:prstGeom prst="rect">
            <a:avLst/>
          </a:prstGeom>
          <a:solidFill>
            <a:srgbClr val="00BFA5"/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384320" y="2655700"/>
            <a:ext cx="4050000" cy="20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def check_stock(quantity):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    logger.info('Checking stock: quantity=%s', quantity)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    if quantity &lt; 0: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        logger.error('Invalid quantity: %s', quantity)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    if quantity == 0: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        logger.warning('Product is out of stock')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    logger.debug('Stock validation passed')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    logger.info('Product is available')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4700000" y="2610000"/>
            <a:ext cx="4100000" cy="55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4700000" y="2610000"/>
            <a:ext cx="64008" cy="550000"/>
          </a:xfrm>
          <a:prstGeom prst="rect">
            <a:avLst/>
          </a:prstGeom>
          <a:solidFill>
            <a:srgbClr val="00BFA5"/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4800000" y="2660000"/>
            <a:ext cx="395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100" u="none" cap="none" strike="noStrike">
                <a:solidFill>
                  <a:srgbClr val="7C6CE7"/>
                </a:solidFill>
                <a:latin typeface="Calibri"/>
                <a:ea typeface="Calibri"/>
                <a:cs typeface="Calibri"/>
                <a:sym typeface="Calibri"/>
              </a:rPr>
              <a:t>INFO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4800000" y="2990000"/>
            <a:ext cx="39500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המוצר זמין — אירוע תקין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4700000" y="3280000"/>
            <a:ext cx="4100000" cy="55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4700000" y="3280000"/>
            <a:ext cx="64008" cy="550000"/>
          </a:xfrm>
          <a:prstGeom prst="rect">
            <a:avLst/>
          </a:prstGeom>
          <a:solidFill>
            <a:srgbClr val="00BFA5"/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4800000" y="3330000"/>
            <a:ext cx="395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100" u="none" cap="none" strike="noStrike">
                <a:solidFill>
                  <a:srgbClr val="7C6CE7"/>
                </a:solidFill>
                <a:latin typeface="Calibri"/>
                <a:ea typeface="Calibri"/>
                <a:cs typeface="Calibri"/>
                <a:sym typeface="Calibri"/>
              </a:rPr>
              <a:t>WARNING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4800000" y="3660000"/>
            <a:ext cx="39500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מלאי אפס — לא כשל אלא התראה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4700000" y="3950000"/>
            <a:ext cx="4100000" cy="55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4700000" y="3950000"/>
            <a:ext cx="64008" cy="550000"/>
          </a:xfrm>
          <a:prstGeom prst="rect">
            <a:avLst/>
          </a:prstGeom>
          <a:solidFill>
            <a:srgbClr val="00BFA5"/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4800000" y="4000000"/>
            <a:ext cx="395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100" u="none" cap="none" strike="noStrike">
                <a:solidFill>
                  <a:srgbClr val="7C6CE7"/>
                </a:solidFill>
                <a:latin typeface="Calibri"/>
                <a:ea typeface="Calibri"/>
                <a:cs typeface="Calibri"/>
                <a:sym typeface="Calibri"/>
              </a:rPr>
              <a:t>ERROR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4800000" y="4330000"/>
            <a:ext cx="39500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כמות שלילית — כשל שדורש טיפול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/>
          <p:nvPr/>
        </p:nvSpPr>
        <p:spPr>
          <a:xfrm>
            <a:off x="0" y="164592"/>
            <a:ext cx="9144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0" y="530352"/>
            <a:ext cx="9144000" cy="41148"/>
          </a:xfrm>
          <a:prstGeom prst="rect">
            <a:avLst/>
          </a:prstGeom>
          <a:solidFill>
            <a:srgbClr val="00BFA5"/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274320" y="621792"/>
            <a:ext cx="8595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800" u="none" cap="none" strike="noStrike">
                <a:solidFill>
                  <a:srgbClr val="7C6CE7"/>
                </a:solidFill>
                <a:latin typeface="Calibri"/>
                <a:ea typeface="Calibri"/>
                <a:cs typeface="Calibri"/>
                <a:sym typeface="Calibri"/>
              </a:rPr>
              <a:t>Best Practices – כללי זהב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274320" y="1078992"/>
            <a:ext cx="8595360" cy="27432"/>
          </a:xfrm>
          <a:prstGeom prst="rect">
            <a:avLst/>
          </a:prstGeom>
          <a:solidFill>
            <a:srgbClr val="9B8FD4"/>
          </a:solidFill>
          <a:ln cap="flat" cmpd="sng" w="12700">
            <a:solidFill>
              <a:srgbClr val="9B8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8686800" y="486918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9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274320" y="1150000"/>
            <a:ext cx="8595360" cy="2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1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לוגים טובים הם חלק בלתי נפרד מאיכות הקוד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274320" y="1480000"/>
            <a:ext cx="8595360" cy="2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Char char="•"/>
            </a:pPr>
            <a:r>
              <a:rPr b="0" i="0" lang="iw-IL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לעולם לא לשמור סיסמאות, טוקנים או פרטי אשראי בלוגים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Char char="•"/>
            </a:pPr>
            <a:r>
              <a:rPr b="0" i="0" lang="iw-IL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עקביות בניסוח, פורמט ורמות — גם כשעובדים בצוות גדול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Char char="•"/>
            </a:pPr>
            <a:r>
              <a:rPr b="0" i="0" lang="iw-IL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לוג actionable = מי שרואה אותו מבין מה לעשות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Char char="•"/>
            </a:pPr>
            <a:r>
              <a:rPr b="0" i="0" lang="iw-IL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Signal vs Noise — עודף לוגים מסתיר אירועים חשובים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Char char="•"/>
            </a:pPr>
            <a:r>
              <a:rPr b="0" i="0" lang="iw-IL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לתכנן לוגים כחלק מהפיתוח — לא רק כשיש תקלה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274320" y="4000000"/>
            <a:ext cx="8595360" cy="2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200" u="none" cap="none" strike="noStrike">
                <a:solidFill>
                  <a:srgbClr val="7C6CE7"/>
                </a:solidFill>
                <a:latin typeface="Calibri"/>
                <a:ea typeface="Calibri"/>
                <a:cs typeface="Calibri"/>
                <a:sym typeface="Calibri"/>
              </a:rPr>
              <a:t>טעויות נפוצות: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274320" y="4320000"/>
            <a:ext cx="8595360" cy="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Char char="•"/>
            </a:pPr>
            <a:r>
              <a:rPr b="0" i="0" lang="iw-IL" sz="1200" u="none" cap="none" strike="noStrike">
                <a:solidFill>
                  <a:srgbClr val="AA2222"/>
                </a:solidFill>
                <a:latin typeface="Calibri"/>
                <a:ea typeface="Calibri"/>
                <a:cs typeface="Calibri"/>
                <a:sym typeface="Calibri"/>
              </a:rPr>
              <a:t>לכתוב הודעות עמומות כמו 'ok' או 'done' — ללא הקשר וללא ערך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Char char="•"/>
            </a:pPr>
            <a:r>
              <a:rPr b="0" i="0" lang="iw-IL" sz="1200" u="none" cap="none" strike="noStrike">
                <a:solidFill>
                  <a:srgbClr val="AA2222"/>
                </a:solidFill>
                <a:latin typeface="Calibri"/>
                <a:ea typeface="Calibri"/>
                <a:cs typeface="Calibri"/>
                <a:sym typeface="Calibri"/>
              </a:rPr>
              <a:t>להציף כל שורת קוד בלוג — לרשום רק נקודות בעלות ערך חקירתי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"/>
          <p:cNvSpPr/>
          <p:nvPr/>
        </p:nvSpPr>
        <p:spPr>
          <a:xfrm>
            <a:off x="0" y="164592"/>
            <a:ext cx="9144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0" y="530352"/>
            <a:ext cx="9144000" cy="41148"/>
          </a:xfrm>
          <a:prstGeom prst="rect">
            <a:avLst/>
          </a:prstGeom>
          <a:solidFill>
            <a:srgbClr val="00BFA5"/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274320" y="621792"/>
            <a:ext cx="8595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800" u="none" cap="none" strike="noStrike">
                <a:solidFill>
                  <a:srgbClr val="7C6CE7"/>
                </a:solidFill>
                <a:latin typeface="Calibri"/>
                <a:ea typeface="Calibri"/>
                <a:cs typeface="Calibri"/>
                <a:sym typeface="Calibri"/>
              </a:rPr>
              <a:t>Best Practices – הימנעות מדליפת מידע רגיש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274320" y="1078992"/>
            <a:ext cx="8595360" cy="27432"/>
          </a:xfrm>
          <a:prstGeom prst="rect">
            <a:avLst/>
          </a:prstGeom>
          <a:solidFill>
            <a:srgbClr val="9B8FD4"/>
          </a:solidFill>
          <a:ln cap="flat" cmpd="sng" w="12700">
            <a:solidFill>
              <a:srgbClr val="9B8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8686800" y="486918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9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274320" y="1150000"/>
            <a:ext cx="8595360" cy="2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1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מה לא לכתוב בלוגים — אפילו בסביבת פיתוח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274320" y="1480000"/>
            <a:ext cx="4200000" cy="290000"/>
          </a:xfrm>
          <a:prstGeom prst="rect">
            <a:avLst/>
          </a:prstGeom>
          <a:solidFill>
            <a:srgbClr val="FFF0F0"/>
          </a:solidFill>
          <a:ln cap="flat" cmpd="sng" w="15225">
            <a:solidFill>
              <a:srgbClr val="CC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274320" y="1480000"/>
            <a:ext cx="4200000" cy="2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100" u="none" cap="none" strike="noStrike">
                <a:solidFill>
                  <a:srgbClr val="AA2222"/>
                </a:solidFill>
                <a:latin typeface="Calibri"/>
                <a:ea typeface="Calibri"/>
                <a:cs typeface="Calibri"/>
                <a:sym typeface="Calibri"/>
              </a:rPr>
              <a:t>שגוי – חושף סיסמה: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274320" y="1810000"/>
            <a:ext cx="4200000" cy="620000"/>
          </a:xfrm>
          <a:prstGeom prst="rect">
            <a:avLst/>
          </a:prstGeom>
          <a:solidFill>
            <a:srgbClr val="F7FBF9"/>
          </a:solidFill>
          <a:ln cap="flat" cmpd="sng" w="1905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274320" y="1810000"/>
            <a:ext cx="64008" cy="620000"/>
          </a:xfrm>
          <a:prstGeom prst="rect">
            <a:avLst/>
          </a:prstGeom>
          <a:solidFill>
            <a:srgbClr val="00BFA5"/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384320" y="1855700"/>
            <a:ext cx="405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logger.info('Login email=%s password=%s',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    email, password)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274320" y="2580000"/>
            <a:ext cx="4200000" cy="290000"/>
          </a:xfrm>
          <a:prstGeom prst="rect">
            <a:avLst/>
          </a:prstGeom>
          <a:solidFill>
            <a:srgbClr val="E8F8F5"/>
          </a:solidFill>
          <a:ln cap="flat" cmpd="sng" w="15225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274320" y="2580000"/>
            <a:ext cx="4200000" cy="2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100" u="none" cap="none" strike="noStrike">
                <a:solidFill>
                  <a:srgbClr val="007A6A"/>
                </a:solidFill>
                <a:latin typeface="Calibri"/>
                <a:ea typeface="Calibri"/>
                <a:cs typeface="Calibri"/>
                <a:sym typeface="Calibri"/>
              </a:rPr>
              <a:t>נכון – מסתיר מידע רגיש: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274320" y="2910000"/>
            <a:ext cx="4200000" cy="1500000"/>
          </a:xfrm>
          <a:prstGeom prst="rect">
            <a:avLst/>
          </a:prstGeom>
          <a:solidFill>
            <a:srgbClr val="F7FBF9"/>
          </a:solidFill>
          <a:ln cap="flat" cmpd="sng" w="1905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274320" y="2910000"/>
            <a:ext cx="64008" cy="1500000"/>
          </a:xfrm>
          <a:prstGeom prst="rect">
            <a:avLst/>
          </a:prstGeom>
          <a:solidFill>
            <a:srgbClr val="00BFA5"/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384320" y="2955700"/>
            <a:ext cx="4050000" cy="1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logger.info(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    'Login request received',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    extra={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        'email': email,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        'has_password': bool(password)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4700000" y="1480000"/>
            <a:ext cx="4150000" cy="70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4700000" y="1480000"/>
            <a:ext cx="64008" cy="700000"/>
          </a:xfrm>
          <a:prstGeom prst="rect">
            <a:avLst/>
          </a:prstGeom>
          <a:solidFill>
            <a:srgbClr val="00BFA5"/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4800000" y="1530000"/>
            <a:ext cx="400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100" u="none" cap="none" strike="noStrike">
                <a:solidFill>
                  <a:srgbClr val="7C6CE7"/>
                </a:solidFill>
                <a:latin typeface="Calibri"/>
                <a:ea typeface="Calibri"/>
                <a:cs typeface="Calibri"/>
                <a:sym typeface="Calibri"/>
              </a:rPr>
              <a:t>bool(password)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4800000" y="1860000"/>
            <a:ext cx="400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מציין אם נשלחה סיסמה — בלי לחשוף את ערכה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4700000" y="2300000"/>
            <a:ext cx="4150000" cy="70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4700000" y="2300000"/>
            <a:ext cx="64008" cy="700000"/>
          </a:xfrm>
          <a:prstGeom prst="rect">
            <a:avLst/>
          </a:prstGeom>
          <a:solidFill>
            <a:srgbClr val="00BFA5"/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4800000" y="2350000"/>
            <a:ext cx="400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100" u="none" cap="none" strike="noStrike">
                <a:solidFill>
                  <a:srgbClr val="7C6CE7"/>
                </a:solidFill>
                <a:latin typeface="Calibri"/>
                <a:ea typeface="Calibri"/>
                <a:cs typeface="Calibri"/>
                <a:sym typeface="Calibri"/>
              </a:rPr>
              <a:t>Sensitive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4800000" y="2680000"/>
            <a:ext cx="400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סיסמאות, טוקנים, מספרי אשראי, מידע רפואי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274320" y="4576572"/>
            <a:ext cx="8595360" cy="384048"/>
          </a:xfrm>
          <a:prstGeom prst="rect">
            <a:avLst/>
          </a:prstGeom>
          <a:solidFill>
            <a:srgbClr val="E8F8F5"/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8805672" y="4576572"/>
            <a:ext cx="64008" cy="384048"/>
          </a:xfrm>
          <a:prstGeom prst="rect">
            <a:avLst/>
          </a:prstGeom>
          <a:solidFill>
            <a:srgbClr val="00BFA5"/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393192" y="4604004"/>
            <a:ext cx="8412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200" u="none" cap="none" strike="noStrike">
                <a:solidFill>
                  <a:srgbClr val="AA2222"/>
                </a:solidFill>
                <a:latin typeface="Calibri"/>
                <a:ea typeface="Calibri"/>
                <a:cs typeface="Calibri"/>
                <a:sym typeface="Calibri"/>
              </a:rPr>
              <a:t>דליפת מידע רגיש בלוגים היא פרצת אבטחה ממשית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"/>
          <p:cNvSpPr/>
          <p:nvPr/>
        </p:nvSpPr>
        <p:spPr>
          <a:xfrm>
            <a:off x="0" y="164592"/>
            <a:ext cx="9144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0" y="530352"/>
            <a:ext cx="9144000" cy="41148"/>
          </a:xfrm>
          <a:prstGeom prst="rect">
            <a:avLst/>
          </a:prstGeom>
          <a:solidFill>
            <a:srgbClr val="00BFA5"/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274320" y="621792"/>
            <a:ext cx="8595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800" u="none" cap="none" strike="noStrike">
                <a:solidFill>
                  <a:srgbClr val="7C6CE7"/>
                </a:solidFill>
                <a:latin typeface="Calibri"/>
                <a:ea typeface="Calibri"/>
                <a:cs typeface="Calibri"/>
                <a:sym typeface="Calibri"/>
              </a:rPr>
              <a:t>Log Format – פורמט אחיד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274320" y="1078992"/>
            <a:ext cx="8595360" cy="27432"/>
          </a:xfrm>
          <a:prstGeom prst="rect">
            <a:avLst/>
          </a:prstGeom>
          <a:solidFill>
            <a:srgbClr val="9B8FD4"/>
          </a:solidFill>
          <a:ln cap="flat" cmpd="sng" w="12700">
            <a:solidFill>
              <a:srgbClr val="9B8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8686800" y="486918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9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274320" y="1150000"/>
            <a:ext cx="8595360" cy="2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1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שדות קבועים הופכים לוגים לכלי חקירה אמיתי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274320" y="1500000"/>
            <a:ext cx="1900000" cy="440000"/>
          </a:xfrm>
          <a:prstGeom prst="rect">
            <a:avLst/>
          </a:prstGeom>
          <a:solidFill>
            <a:srgbClr val="F7FBF9"/>
          </a:solidFill>
          <a:ln cap="flat" cmpd="sng" w="15225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274320" y="1500000"/>
            <a:ext cx="1900000" cy="4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0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timestamp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2350000" y="1500000"/>
            <a:ext cx="6520000" cy="4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חותמת זמן מדויקת של האירוע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274320" y="2040000"/>
            <a:ext cx="1900000" cy="440000"/>
          </a:xfrm>
          <a:prstGeom prst="rect">
            <a:avLst/>
          </a:prstGeom>
          <a:solidFill>
            <a:srgbClr val="F7FBF9"/>
          </a:solidFill>
          <a:ln cap="flat" cmpd="sng" w="15225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274320" y="2040000"/>
            <a:ext cx="1900000" cy="4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0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level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2350000" y="2040000"/>
            <a:ext cx="6520000" cy="4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רמת הלוג (INFO, WARNING, ERROR, DEBUG)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274320" y="2580000"/>
            <a:ext cx="1900000" cy="440000"/>
          </a:xfrm>
          <a:prstGeom prst="rect">
            <a:avLst/>
          </a:prstGeom>
          <a:solidFill>
            <a:srgbClr val="F7FBF9"/>
          </a:solidFill>
          <a:ln cap="flat" cmpd="sng" w="15225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274320" y="2580000"/>
            <a:ext cx="1900000" cy="4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0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module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2350000" y="2580000"/>
            <a:ext cx="6520000" cy="4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הרכיב שממנו יצא הלוג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274320" y="3120000"/>
            <a:ext cx="1900000" cy="440000"/>
          </a:xfrm>
          <a:prstGeom prst="rect">
            <a:avLst/>
          </a:prstGeom>
          <a:solidFill>
            <a:srgbClr val="F7FBF9"/>
          </a:solidFill>
          <a:ln cap="flat" cmpd="sng" w="15225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274320" y="3120000"/>
            <a:ext cx="1900000" cy="4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0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message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2350000" y="3120000"/>
            <a:ext cx="6520000" cy="4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תיאור האירוע בשפה ברורה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274320" y="3660000"/>
            <a:ext cx="1900000" cy="440000"/>
          </a:xfrm>
          <a:prstGeom prst="rect">
            <a:avLst/>
          </a:prstGeom>
          <a:solidFill>
            <a:srgbClr val="F7FBF9"/>
          </a:solidFill>
          <a:ln cap="flat" cmpd="sng" w="15225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274320" y="3660000"/>
            <a:ext cx="1900000" cy="4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0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request_id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2350000" y="3660000"/>
            <a:ext cx="6520000" cy="4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מחבר כמה לוגים לאותו תהליך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274320" y="4576572"/>
            <a:ext cx="8595360" cy="384048"/>
          </a:xfrm>
          <a:prstGeom prst="rect">
            <a:avLst/>
          </a:prstGeom>
          <a:solidFill>
            <a:srgbClr val="E8F8F5"/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8805672" y="4576572"/>
            <a:ext cx="64008" cy="384048"/>
          </a:xfrm>
          <a:prstGeom prst="rect">
            <a:avLst/>
          </a:prstGeom>
          <a:solidFill>
            <a:srgbClr val="00BFA5"/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393192" y="4604004"/>
            <a:ext cx="8412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200" u="none" cap="none" strike="noStrike">
                <a:solidFill>
                  <a:srgbClr val="007A6A"/>
                </a:solidFill>
                <a:latin typeface="Calibri"/>
                <a:ea typeface="Calibri"/>
                <a:cs typeface="Calibri"/>
                <a:sym typeface="Calibri"/>
              </a:rPr>
              <a:t>Structured Log — לוג במבנה קבוע (לעיתים JSON) שקל לחפש ולנתח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"/>
          <p:cNvSpPr/>
          <p:nvPr/>
        </p:nvSpPr>
        <p:spPr>
          <a:xfrm>
            <a:off x="0" y="164592"/>
            <a:ext cx="9144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0" y="530352"/>
            <a:ext cx="9144000" cy="41148"/>
          </a:xfrm>
          <a:prstGeom prst="rect">
            <a:avLst/>
          </a:prstGeom>
          <a:solidFill>
            <a:srgbClr val="00BFA5"/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274320" y="621792"/>
            <a:ext cx="8595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800" u="none" cap="none" strike="noStrike">
                <a:solidFill>
                  <a:srgbClr val="7C6CE7"/>
                </a:solidFill>
                <a:latin typeface="Calibri"/>
                <a:ea typeface="Calibri"/>
                <a:cs typeface="Calibri"/>
                <a:sym typeface="Calibri"/>
              </a:rPr>
              <a:t>Log Format – דוגמת קוד JSON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274320" y="1078992"/>
            <a:ext cx="8595360" cy="27432"/>
          </a:xfrm>
          <a:prstGeom prst="rect">
            <a:avLst/>
          </a:prstGeom>
          <a:solidFill>
            <a:srgbClr val="9B8FD4"/>
          </a:solidFill>
          <a:ln cap="flat" cmpd="sng" w="12700">
            <a:solidFill>
              <a:srgbClr val="9B8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8686800" y="486918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9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274320" y="1200000"/>
            <a:ext cx="4200000" cy="290000"/>
          </a:xfrm>
          <a:prstGeom prst="rect">
            <a:avLst/>
          </a:prstGeom>
          <a:solidFill>
            <a:srgbClr val="FFF0F0"/>
          </a:solidFill>
          <a:ln cap="flat" cmpd="sng" w="15225">
            <a:solidFill>
              <a:srgbClr val="CC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274320" y="1200000"/>
            <a:ext cx="4200000" cy="2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100" u="none" cap="none" strike="noStrike">
                <a:solidFill>
                  <a:srgbClr val="AA2222"/>
                </a:solidFill>
                <a:latin typeface="Calibri"/>
                <a:ea typeface="Calibri"/>
                <a:cs typeface="Calibri"/>
                <a:sym typeface="Calibri"/>
              </a:rPr>
              <a:t>שגוי – פורמט חופשי: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274320" y="1530000"/>
            <a:ext cx="4200000" cy="620000"/>
          </a:xfrm>
          <a:prstGeom prst="rect">
            <a:avLst/>
          </a:prstGeom>
          <a:solidFill>
            <a:srgbClr val="F7FBF9"/>
          </a:solidFill>
          <a:ln cap="flat" cmpd="sng" w="1905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274320" y="1530000"/>
            <a:ext cx="64008" cy="620000"/>
          </a:xfrm>
          <a:prstGeom prst="rect">
            <a:avLst/>
          </a:prstGeom>
          <a:solidFill>
            <a:srgbClr val="00BFA5"/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384320" y="1575700"/>
            <a:ext cx="4050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print('user logged in')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print('ERROR on payment')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274320" y="2300000"/>
            <a:ext cx="4200000" cy="290000"/>
          </a:xfrm>
          <a:prstGeom prst="rect">
            <a:avLst/>
          </a:prstGeom>
          <a:solidFill>
            <a:srgbClr val="E8F8F5"/>
          </a:solidFill>
          <a:ln cap="flat" cmpd="sng" w="15225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274320" y="2300000"/>
            <a:ext cx="4200000" cy="2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100" u="none" cap="none" strike="noStrike">
                <a:solidFill>
                  <a:srgbClr val="007A6A"/>
                </a:solidFill>
                <a:latin typeface="Calibri"/>
                <a:ea typeface="Calibri"/>
                <a:cs typeface="Calibri"/>
                <a:sym typeface="Calibri"/>
              </a:rPr>
              <a:t>נכון – מבנה JSON קבוע: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274320" y="2630000"/>
            <a:ext cx="4200000" cy="2000000"/>
          </a:xfrm>
          <a:prstGeom prst="rect">
            <a:avLst/>
          </a:prstGeom>
          <a:solidFill>
            <a:srgbClr val="F7FBF9"/>
          </a:solidFill>
          <a:ln cap="flat" cmpd="sng" w="1905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274320" y="2630000"/>
            <a:ext cx="64008" cy="2000000"/>
          </a:xfrm>
          <a:prstGeom prst="rect">
            <a:avLst/>
          </a:prstGeom>
          <a:solidFill>
            <a:srgbClr val="00BFA5"/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384320" y="2675700"/>
            <a:ext cx="4050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8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import json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8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from datetime import datetime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8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def write_log(level, module, message, **extra):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8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    entry =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8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        'timestamp': datetime.utcnow().isoformat(),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8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        'level': level, 'module': module,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8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        'message': message, **extra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8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8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    logger.info(json.dumps(entry, ensure_ascii=False))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8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write_log('INFO', 'auth', 'User logged in',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8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    request_id='req-88', user_id=15)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4700000" y="1200000"/>
            <a:ext cx="4150000" cy="72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4700000" y="1200000"/>
            <a:ext cx="64008" cy="720000"/>
          </a:xfrm>
          <a:prstGeom prst="rect">
            <a:avLst/>
          </a:prstGeom>
          <a:solidFill>
            <a:srgbClr val="00BFA5"/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4800000" y="1250000"/>
            <a:ext cx="400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100" u="none" cap="none" strike="noStrike">
                <a:solidFill>
                  <a:srgbClr val="7C6CE7"/>
                </a:solidFill>
                <a:latin typeface="Calibri"/>
                <a:ea typeface="Calibri"/>
                <a:cs typeface="Calibri"/>
                <a:sym typeface="Calibri"/>
              </a:rPr>
              <a:t>מבנה קבוע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4800000" y="1580000"/>
            <a:ext cx="4000000" cy="2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קל לחפש, לסנן ולנתח — גם בכלים אוטומטיים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4700000" y="2050000"/>
            <a:ext cx="4150000" cy="72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4700000" y="2050000"/>
            <a:ext cx="64008" cy="720000"/>
          </a:xfrm>
          <a:prstGeom prst="rect">
            <a:avLst/>
          </a:prstGeom>
          <a:solidFill>
            <a:srgbClr val="00BFA5"/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4800000" y="2100000"/>
            <a:ext cx="400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100" u="none" cap="none" strike="noStrike">
                <a:solidFill>
                  <a:srgbClr val="7C6CE7"/>
                </a:solidFill>
                <a:latin typeface="Calibri"/>
                <a:ea typeface="Calibri"/>
                <a:cs typeface="Calibri"/>
                <a:sym typeface="Calibri"/>
              </a:rPr>
              <a:t>ensure_ascii=False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4800000" y="2430000"/>
            <a:ext cx="4000000" cy="2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תמיכה בעברית ותווים מיוחדים בפלט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4700000" y="2900000"/>
            <a:ext cx="4150000" cy="72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4700000" y="2900000"/>
            <a:ext cx="64008" cy="720000"/>
          </a:xfrm>
          <a:prstGeom prst="rect">
            <a:avLst/>
          </a:prstGeom>
          <a:solidFill>
            <a:srgbClr val="00BFA5"/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4800000" y="2950000"/>
            <a:ext cx="400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100" u="none" cap="none" strike="noStrike">
                <a:solidFill>
                  <a:srgbClr val="7C6CE7"/>
                </a:solidFill>
                <a:latin typeface="Calibri"/>
                <a:ea typeface="Calibri"/>
                <a:cs typeface="Calibri"/>
                <a:sym typeface="Calibri"/>
              </a:rPr>
              <a:t>**extra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4800000" y="3280000"/>
            <a:ext cx="4000000" cy="2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שדות דינמיים לפי הצורך בכל לוג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"/>
          <p:cNvSpPr/>
          <p:nvPr/>
        </p:nvSpPr>
        <p:spPr>
          <a:xfrm>
            <a:off x="0" y="164592"/>
            <a:ext cx="9144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0" y="530352"/>
            <a:ext cx="9144000" cy="41148"/>
          </a:xfrm>
          <a:prstGeom prst="rect">
            <a:avLst/>
          </a:prstGeom>
          <a:solidFill>
            <a:srgbClr val="00BFA5"/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274320" y="621792"/>
            <a:ext cx="8595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800" u="none" cap="none" strike="noStrike">
                <a:solidFill>
                  <a:srgbClr val="7C6CE7"/>
                </a:solidFill>
                <a:latin typeface="Calibri"/>
                <a:ea typeface="Calibri"/>
                <a:cs typeface="Calibri"/>
                <a:sym typeface="Calibri"/>
              </a:rPr>
              <a:t>שמירת לוגים לקובץ – עקרונות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274320" y="1078992"/>
            <a:ext cx="8595360" cy="27432"/>
          </a:xfrm>
          <a:prstGeom prst="rect">
            <a:avLst/>
          </a:prstGeom>
          <a:solidFill>
            <a:srgbClr val="9B8FD4"/>
          </a:solidFill>
          <a:ln cap="flat" cmpd="sng" w="12700">
            <a:solidFill>
              <a:srgbClr val="9B8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8686800" y="486918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9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274320" y="1150000"/>
            <a:ext cx="8595360" cy="2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1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במערכות אמיתיות לוגים חייבים להישמר — print לא מספיק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274320" y="1500000"/>
            <a:ext cx="8595360" cy="78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274320" y="1500000"/>
            <a:ext cx="64008" cy="780000"/>
          </a:xfrm>
          <a:prstGeom prst="rect">
            <a:avLst/>
          </a:prstGeom>
          <a:solidFill>
            <a:srgbClr val="00BFA5"/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374320" y="1550000"/>
            <a:ext cx="8445360" cy="3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100" u="none" cap="none" strike="noStrike">
                <a:solidFill>
                  <a:srgbClr val="7C6CE7"/>
                </a:solidFill>
                <a:latin typeface="Calibri"/>
                <a:ea typeface="Calibri"/>
                <a:cs typeface="Calibri"/>
                <a:sym typeface="Calibri"/>
              </a:rPr>
              <a:t>FileHandler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374320" y="1880000"/>
            <a:ext cx="8445360" cy="3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שומר לקובץ לצמיתות — הלוג נשאר גם אחרי סיום התהליך (Persistence)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274320" y="2380000"/>
            <a:ext cx="8595360" cy="78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274320" y="2380000"/>
            <a:ext cx="64008" cy="780000"/>
          </a:xfrm>
          <a:prstGeom prst="rect">
            <a:avLst/>
          </a:prstGeom>
          <a:solidFill>
            <a:srgbClr val="00BFA5"/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374320" y="2430000"/>
            <a:ext cx="8445360" cy="3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100" u="none" cap="none" strike="noStrike">
                <a:solidFill>
                  <a:srgbClr val="7C6CE7"/>
                </a:solidFill>
                <a:latin typeface="Calibri"/>
                <a:ea typeface="Calibri"/>
                <a:cs typeface="Calibri"/>
                <a:sym typeface="Calibri"/>
              </a:rPr>
              <a:t>Append mode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374320" y="2760000"/>
            <a:ext cx="8445360" cy="3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מוסיף לקובץ קיים ולא מוחק היסטוריה — חשוב לשמור על רצף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274320" y="3260000"/>
            <a:ext cx="8595360" cy="78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274320" y="3260000"/>
            <a:ext cx="64008" cy="780000"/>
          </a:xfrm>
          <a:prstGeom prst="rect">
            <a:avLst/>
          </a:prstGeom>
          <a:solidFill>
            <a:srgbClr val="00BFA5"/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374320" y="3310000"/>
            <a:ext cx="8445360" cy="3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100" u="none" cap="none" strike="noStrike">
                <a:solidFill>
                  <a:srgbClr val="7C6CE7"/>
                </a:solidFill>
                <a:latin typeface="Calibri"/>
                <a:ea typeface="Calibri"/>
                <a:cs typeface="Calibri"/>
                <a:sym typeface="Calibri"/>
              </a:rPr>
              <a:t>Formatter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374320" y="3640000"/>
            <a:ext cx="8445360" cy="3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קובע את מבנה כל שורה: זמן, רמה, שם הרכיב, הודעה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274320" y="4140000"/>
            <a:ext cx="8595360" cy="78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274320" y="4140000"/>
            <a:ext cx="64008" cy="780000"/>
          </a:xfrm>
          <a:prstGeom prst="rect">
            <a:avLst/>
          </a:prstGeom>
          <a:solidFill>
            <a:srgbClr val="00BFA5"/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374320" y="4190000"/>
            <a:ext cx="8445360" cy="3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100" u="none" cap="none" strike="noStrike">
                <a:solidFill>
                  <a:srgbClr val="7C6CE7"/>
                </a:solidFill>
                <a:latin typeface="Calibri"/>
                <a:ea typeface="Calibri"/>
                <a:cs typeface="Calibri"/>
                <a:sym typeface="Calibri"/>
              </a:rPr>
              <a:t>יתרון מרכזי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374320" y="4520000"/>
            <a:ext cx="8445360" cy="3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מאפשר לחקור תקלות גם שעות אחרי שהתהליך הסתיים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"/>
          <p:cNvSpPr/>
          <p:nvPr/>
        </p:nvSpPr>
        <p:spPr>
          <a:xfrm>
            <a:off x="0" y="164592"/>
            <a:ext cx="9144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0" y="530352"/>
            <a:ext cx="9144000" cy="41148"/>
          </a:xfrm>
          <a:prstGeom prst="rect">
            <a:avLst/>
          </a:prstGeom>
          <a:solidFill>
            <a:srgbClr val="00BFA5"/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274320" y="621792"/>
            <a:ext cx="8595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800" u="none" cap="none" strike="noStrike">
                <a:solidFill>
                  <a:srgbClr val="7C6CE7"/>
                </a:solidFill>
                <a:latin typeface="Calibri"/>
                <a:ea typeface="Calibri"/>
                <a:cs typeface="Calibri"/>
                <a:sym typeface="Calibri"/>
              </a:rPr>
              <a:t>שמירת לוגים לקובץ – דוגמת קוד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274320" y="1078992"/>
            <a:ext cx="8595360" cy="27432"/>
          </a:xfrm>
          <a:prstGeom prst="rect">
            <a:avLst/>
          </a:prstGeom>
          <a:solidFill>
            <a:srgbClr val="9B8FD4"/>
          </a:solidFill>
          <a:ln cap="flat" cmpd="sng" w="12700">
            <a:solidFill>
              <a:srgbClr val="9B8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8686800" y="486918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9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274320" y="1150000"/>
            <a:ext cx="8595360" cy="2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1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הגדרת FileHandler מלאה — כולל Formatter ו-encoding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274320" y="1480000"/>
            <a:ext cx="5200000" cy="3200000"/>
          </a:xfrm>
          <a:prstGeom prst="rect">
            <a:avLst/>
          </a:prstGeom>
          <a:solidFill>
            <a:srgbClr val="F7FBF9"/>
          </a:solidFill>
          <a:ln cap="flat" cmpd="sng" w="1905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274320" y="1480000"/>
            <a:ext cx="64008" cy="3200000"/>
          </a:xfrm>
          <a:prstGeom prst="rect">
            <a:avLst/>
          </a:prstGeom>
          <a:solidFill>
            <a:srgbClr val="00BFA5"/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384320" y="1525700"/>
            <a:ext cx="5050000" cy="31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import logging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logger = logging.getLogger('orders')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logger.setLevel(logging.INFO)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file_handler = logging.FileHandler(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    'application.log', encoding='utf-8')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formatter = logging.Formatter(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    '%(asctime)s | %(levelname)s | %(name)s | %(message)s'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file_handler.setFormatter(formatter)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logger.addHandler(file_handler)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def process_order(order_id):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    logger.info('Order started: %s', order_id)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    logger.info('Order finished: %s', order_id)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5700000" y="1480000"/>
            <a:ext cx="3150000" cy="75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5700000" y="1480000"/>
            <a:ext cx="64008" cy="750000"/>
          </a:xfrm>
          <a:prstGeom prst="rect">
            <a:avLst/>
          </a:prstGeom>
          <a:solidFill>
            <a:srgbClr val="00BFA5"/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5800000" y="1530000"/>
            <a:ext cx="300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100" u="none" cap="none" strike="noStrike">
                <a:solidFill>
                  <a:srgbClr val="7C6CE7"/>
                </a:solidFill>
                <a:latin typeface="Calibri"/>
                <a:ea typeface="Calibri"/>
                <a:cs typeface="Calibri"/>
                <a:sym typeface="Calibri"/>
              </a:rPr>
              <a:t>getLogger('orders')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5800000" y="1860000"/>
            <a:ext cx="300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שם ייחודי — קל לזהות מקור הלוג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5700000" y="2350000"/>
            <a:ext cx="3150000" cy="75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5700000" y="2350000"/>
            <a:ext cx="64008" cy="750000"/>
          </a:xfrm>
          <a:prstGeom prst="rect">
            <a:avLst/>
          </a:prstGeom>
          <a:solidFill>
            <a:srgbClr val="00BFA5"/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5800000" y="2400000"/>
            <a:ext cx="300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100" u="none" cap="none" strike="noStrike">
                <a:solidFill>
                  <a:srgbClr val="7C6CE7"/>
                </a:solidFill>
                <a:latin typeface="Calibri"/>
                <a:ea typeface="Calibri"/>
                <a:cs typeface="Calibri"/>
                <a:sym typeface="Calibri"/>
              </a:rPr>
              <a:t>setLevel(INFO)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5800000" y="2730000"/>
            <a:ext cx="300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מסנן DEBUG בפרודקשן — פחות רעש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5700000" y="3220000"/>
            <a:ext cx="3150000" cy="75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5700000" y="3220000"/>
            <a:ext cx="64008" cy="750000"/>
          </a:xfrm>
          <a:prstGeom prst="rect">
            <a:avLst/>
          </a:prstGeom>
          <a:solidFill>
            <a:srgbClr val="00BFA5"/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5800000" y="3270000"/>
            <a:ext cx="300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100" u="none" cap="none" strike="noStrike">
                <a:solidFill>
                  <a:srgbClr val="7C6CE7"/>
                </a:solidFill>
                <a:latin typeface="Calibri"/>
                <a:ea typeface="Calibri"/>
                <a:cs typeface="Calibri"/>
                <a:sym typeface="Calibri"/>
              </a:rPr>
              <a:t>Formatter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5800000" y="3600000"/>
            <a:ext cx="300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אחידות בכל שורת לוג בכל הפרויקט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2"/>
          <p:cNvSpPr/>
          <p:nvPr/>
        </p:nvSpPr>
        <p:spPr>
          <a:xfrm>
            <a:off x="0" y="164592"/>
            <a:ext cx="9144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0" y="530352"/>
            <a:ext cx="9144000" cy="41148"/>
          </a:xfrm>
          <a:prstGeom prst="rect">
            <a:avLst/>
          </a:prstGeom>
          <a:solidFill>
            <a:srgbClr val="00BFA5"/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274320" y="621792"/>
            <a:ext cx="8595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800" u="none" cap="none" strike="noStrike">
                <a:solidFill>
                  <a:srgbClr val="7C6CE7"/>
                </a:solidFill>
                <a:latin typeface="Calibri"/>
                <a:ea typeface="Calibri"/>
                <a:cs typeface="Calibri"/>
                <a:sym typeface="Calibri"/>
              </a:rPr>
              <a:t>ספריות לוגים ב-Python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2"/>
          <p:cNvSpPr/>
          <p:nvPr/>
        </p:nvSpPr>
        <p:spPr>
          <a:xfrm>
            <a:off x="274320" y="1078992"/>
            <a:ext cx="8595360" cy="27432"/>
          </a:xfrm>
          <a:prstGeom prst="rect">
            <a:avLst/>
          </a:prstGeom>
          <a:solidFill>
            <a:srgbClr val="9B8FD4"/>
          </a:solidFill>
          <a:ln cap="flat" cmpd="sng" w="12700">
            <a:solidFill>
              <a:srgbClr val="9B8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2"/>
          <p:cNvSpPr/>
          <p:nvPr/>
        </p:nvSpPr>
        <p:spPr>
          <a:xfrm>
            <a:off x="8686800" y="486918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9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274320" y="1150000"/>
            <a:ext cx="8595360" cy="2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1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logger, handler, formatter – שלושת הרכיבים שחייבים להכיר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2"/>
          <p:cNvSpPr/>
          <p:nvPr/>
        </p:nvSpPr>
        <p:spPr>
          <a:xfrm>
            <a:off x="274320" y="1500000"/>
            <a:ext cx="2820000" cy="1100000"/>
          </a:xfrm>
          <a:prstGeom prst="rect">
            <a:avLst/>
          </a:prstGeom>
          <a:solidFill>
            <a:srgbClr val="F7FBF9"/>
          </a:solidFill>
          <a:ln cap="flat" cmpd="sng" w="1905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2"/>
          <p:cNvSpPr/>
          <p:nvPr/>
        </p:nvSpPr>
        <p:spPr>
          <a:xfrm>
            <a:off x="274320" y="1540000"/>
            <a:ext cx="28200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40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logger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374320" y="2020000"/>
            <a:ext cx="2620000" cy="5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מי כותב את הלוג — מייצג מודול או רכיב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3244320" y="1500000"/>
            <a:ext cx="2820000" cy="1100000"/>
          </a:xfrm>
          <a:prstGeom prst="rect">
            <a:avLst/>
          </a:prstGeom>
          <a:solidFill>
            <a:srgbClr val="F7FBF9"/>
          </a:solidFill>
          <a:ln cap="flat" cmpd="sng" w="1905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3244320" y="1540000"/>
            <a:ext cx="28200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40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handler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3344320" y="2020000"/>
            <a:ext cx="2620000" cy="5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לאן הלוג נשלח — מסך, קובץ, שירות חיצוני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6214320" y="1500000"/>
            <a:ext cx="2820000" cy="1100000"/>
          </a:xfrm>
          <a:prstGeom prst="rect">
            <a:avLst/>
          </a:prstGeom>
          <a:solidFill>
            <a:srgbClr val="F7FBF9"/>
          </a:solidFill>
          <a:ln cap="flat" cmpd="sng" w="1905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2"/>
          <p:cNvSpPr/>
          <p:nvPr/>
        </p:nvSpPr>
        <p:spPr>
          <a:xfrm>
            <a:off x="6214320" y="1540000"/>
            <a:ext cx="28200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40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formatter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6314320" y="2020000"/>
            <a:ext cx="2620000" cy="5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איך הלוג נראה — מבנה כל שורה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274320" y="2800000"/>
            <a:ext cx="4100000" cy="70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274320" y="2800000"/>
            <a:ext cx="64008" cy="700000"/>
          </a:xfrm>
          <a:prstGeom prst="rect">
            <a:avLst/>
          </a:prstGeom>
          <a:solidFill>
            <a:srgbClr val="00BFA5"/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374320" y="2850000"/>
            <a:ext cx="395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100" u="none" cap="none" strike="noStrike">
                <a:solidFill>
                  <a:srgbClr val="7C6CE7"/>
                </a:solidFill>
                <a:latin typeface="Calibri"/>
                <a:ea typeface="Calibri"/>
                <a:cs typeface="Calibri"/>
                <a:sym typeface="Calibri"/>
              </a:rPr>
              <a:t>logging המובנה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2"/>
          <p:cNvSpPr/>
          <p:nvPr/>
        </p:nvSpPr>
        <p:spPr>
          <a:xfrm>
            <a:off x="374320" y="3180000"/>
            <a:ext cx="395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חזק ומספיק לרוב הפרויקטים — כלול ב-Python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4650000" y="2800000"/>
            <a:ext cx="4150000" cy="70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4650000" y="2800000"/>
            <a:ext cx="64008" cy="700000"/>
          </a:xfrm>
          <a:prstGeom prst="rect">
            <a:avLst/>
          </a:prstGeom>
          <a:solidFill>
            <a:srgbClr val="00BFA5"/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4750000" y="2850000"/>
            <a:ext cx="400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100" u="none" cap="none" strike="noStrike">
                <a:solidFill>
                  <a:srgbClr val="7C6CE7"/>
                </a:solidFill>
                <a:latin typeface="Calibri"/>
                <a:ea typeface="Calibri"/>
                <a:cs typeface="Calibri"/>
                <a:sym typeface="Calibri"/>
              </a:rPr>
              <a:t>loguru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4750000" y="3180000"/>
            <a:ext cx="400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ספרייה חיצונית שמפשטת קונפיגורציה ומוסיפת צבעים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274320" y="3650000"/>
            <a:ext cx="8595360" cy="2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200" u="none" cap="none" strike="noStrike">
                <a:solidFill>
                  <a:srgbClr val="7C6CE7"/>
                </a:solidFill>
                <a:latin typeface="Calibri"/>
                <a:ea typeface="Calibri"/>
                <a:cs typeface="Calibri"/>
                <a:sym typeface="Calibri"/>
              </a:rPr>
              <a:t>טעויות נפוצות: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2"/>
          <p:cNvSpPr/>
          <p:nvPr/>
        </p:nvSpPr>
        <p:spPr>
          <a:xfrm>
            <a:off x="274320" y="3980000"/>
            <a:ext cx="8595360" cy="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Char char="•"/>
            </a:pPr>
            <a:r>
              <a:rPr b="0" i="0" lang="iw-IL" sz="1200" u="none" cap="none" strike="noStrike">
                <a:solidFill>
                  <a:srgbClr val="AA2222"/>
                </a:solidFill>
                <a:latin typeface="Calibri"/>
                <a:ea typeface="Calibri"/>
                <a:cs typeface="Calibri"/>
                <a:sym typeface="Calibri"/>
              </a:rPr>
              <a:t>לערבב print ו-logging באותו קוד — חוסר עקביות שמקשה על חקירה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Char char="•"/>
            </a:pPr>
            <a:r>
              <a:rPr b="0" i="0" lang="iw-IL" sz="1200" u="none" cap="none" strike="noStrike">
                <a:solidFill>
                  <a:srgbClr val="AA2222"/>
                </a:solidFill>
                <a:latin typeface="Calibri"/>
                <a:ea typeface="Calibri"/>
                <a:cs typeface="Calibri"/>
                <a:sym typeface="Calibri"/>
              </a:rPr>
              <a:t>לא לתת שם ללוגר — קשה לזהות מאיפה הלוג הגיע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3"/>
          <p:cNvSpPr/>
          <p:nvPr/>
        </p:nvSpPr>
        <p:spPr>
          <a:xfrm>
            <a:off x="0" y="164592"/>
            <a:ext cx="9144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0" y="530352"/>
            <a:ext cx="9144000" cy="41148"/>
          </a:xfrm>
          <a:prstGeom prst="rect">
            <a:avLst/>
          </a:prstGeom>
          <a:solidFill>
            <a:srgbClr val="00BFA5"/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274320" y="621792"/>
            <a:ext cx="8595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800" u="none" cap="none" strike="noStrike">
                <a:solidFill>
                  <a:srgbClr val="7C6CE7"/>
                </a:solidFill>
                <a:latin typeface="Calibri"/>
                <a:ea typeface="Calibri"/>
                <a:cs typeface="Calibri"/>
                <a:sym typeface="Calibri"/>
              </a:rPr>
              <a:t>ספריות – StreamHandler + FileHandler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274320" y="1078992"/>
            <a:ext cx="8595360" cy="27432"/>
          </a:xfrm>
          <a:prstGeom prst="rect">
            <a:avLst/>
          </a:prstGeom>
          <a:solidFill>
            <a:srgbClr val="9B8FD4"/>
          </a:solidFill>
          <a:ln cap="flat" cmpd="sng" w="12700">
            <a:solidFill>
              <a:srgbClr val="9B8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8686800" y="486918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9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274320" y="1150000"/>
            <a:ext cx="8595360" cy="2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1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לוג שמגיע גם למסך וגם לקובץ — שני handlers על אותו logger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274320" y="1480000"/>
            <a:ext cx="5500000" cy="3200000"/>
          </a:xfrm>
          <a:prstGeom prst="rect">
            <a:avLst/>
          </a:prstGeom>
          <a:solidFill>
            <a:srgbClr val="F7FBF9"/>
          </a:solidFill>
          <a:ln cap="flat" cmpd="sng" w="1905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274320" y="1480000"/>
            <a:ext cx="64008" cy="3200000"/>
          </a:xfrm>
          <a:prstGeom prst="rect">
            <a:avLst/>
          </a:prstGeom>
          <a:solidFill>
            <a:srgbClr val="00BFA5"/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384320" y="1525700"/>
            <a:ext cx="5350000" cy="31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import logging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logger = logging.getLogger('demo')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logger.setLevel(logging.DEBUG)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formatter = logging.Formatter(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    '%(asctime)s | %(levelname)s | %(name)s | %(message)s')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stream_handler = logging.StreamHandler()   # מסך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stream_handler.setFormatter(formatter)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file_handler = logging.FileHandler(        # קובץ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    'app.log', encoding='utf-8')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file_handler.setFormatter(formatter)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logger.addHandler(stream_handler)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logger.addHandler(file_handler)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logger.info('Application started')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logger.warning('Low disk space')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6050000" y="1480000"/>
            <a:ext cx="2800000" cy="72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6050000" y="1480000"/>
            <a:ext cx="64008" cy="720000"/>
          </a:xfrm>
          <a:prstGeom prst="rect">
            <a:avLst/>
          </a:prstGeom>
          <a:solidFill>
            <a:srgbClr val="00BFA5"/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6150000" y="1530000"/>
            <a:ext cx="265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100" u="none" cap="none" strike="noStrike">
                <a:solidFill>
                  <a:srgbClr val="7C6CE7"/>
                </a:solidFill>
                <a:latin typeface="Calibri"/>
                <a:ea typeface="Calibri"/>
                <a:cs typeface="Calibri"/>
                <a:sym typeface="Calibri"/>
              </a:rPr>
              <a:t>StreamHandler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6150000" y="1860000"/>
            <a:ext cx="2650000" cy="2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שולח לוג למסך — שימושי בפיתוח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6050000" y="2320000"/>
            <a:ext cx="2800000" cy="72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6050000" y="2320000"/>
            <a:ext cx="64008" cy="720000"/>
          </a:xfrm>
          <a:prstGeom prst="rect">
            <a:avLst/>
          </a:prstGeom>
          <a:solidFill>
            <a:srgbClr val="00BFA5"/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6150000" y="2370000"/>
            <a:ext cx="265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100" u="none" cap="none" strike="noStrike">
                <a:solidFill>
                  <a:srgbClr val="7C6CE7"/>
                </a:solidFill>
                <a:latin typeface="Calibri"/>
                <a:ea typeface="Calibri"/>
                <a:cs typeface="Calibri"/>
                <a:sym typeface="Calibri"/>
              </a:rPr>
              <a:t>FileHandler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6150000" y="2700000"/>
            <a:ext cx="2650000" cy="2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שומר לקובץ — הכרחי בפרודקשן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6050000" y="3160000"/>
            <a:ext cx="2800000" cy="72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6050000" y="3160000"/>
            <a:ext cx="64008" cy="720000"/>
          </a:xfrm>
          <a:prstGeom prst="rect">
            <a:avLst/>
          </a:prstGeom>
          <a:solidFill>
            <a:srgbClr val="00BFA5"/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6150000" y="3210000"/>
            <a:ext cx="265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100" u="none" cap="none" strike="noStrike">
                <a:solidFill>
                  <a:srgbClr val="7C6CE7"/>
                </a:solidFill>
                <a:latin typeface="Calibri"/>
                <a:ea typeface="Calibri"/>
                <a:cs typeface="Calibri"/>
                <a:sym typeface="Calibri"/>
              </a:rPr>
              <a:t>שניהם ביחד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6150000" y="3540000"/>
            <a:ext cx="2650000" cy="2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אפשר לצרף כמה handlers לאותו logger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4"/>
          <p:cNvSpPr/>
          <p:nvPr/>
        </p:nvSpPr>
        <p:spPr>
          <a:xfrm>
            <a:off x="0" y="164592"/>
            <a:ext cx="9144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4"/>
          <p:cNvSpPr/>
          <p:nvPr/>
        </p:nvSpPr>
        <p:spPr>
          <a:xfrm>
            <a:off x="0" y="530352"/>
            <a:ext cx="9144000" cy="41148"/>
          </a:xfrm>
          <a:prstGeom prst="rect">
            <a:avLst/>
          </a:prstGeom>
          <a:solidFill>
            <a:srgbClr val="00BFA5"/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4"/>
          <p:cNvSpPr/>
          <p:nvPr/>
        </p:nvSpPr>
        <p:spPr>
          <a:xfrm>
            <a:off x="274320" y="621792"/>
            <a:ext cx="8595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800" u="none" cap="none" strike="noStrike">
                <a:solidFill>
                  <a:srgbClr val="7C6CE7"/>
                </a:solidFill>
                <a:latin typeface="Calibri"/>
                <a:ea typeface="Calibri"/>
                <a:cs typeface="Calibri"/>
                <a:sym typeface="Calibri"/>
              </a:rPr>
              <a:t>לוגים סביב try/except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4"/>
          <p:cNvSpPr/>
          <p:nvPr/>
        </p:nvSpPr>
        <p:spPr>
          <a:xfrm>
            <a:off x="274320" y="1078992"/>
            <a:ext cx="8595360" cy="27432"/>
          </a:xfrm>
          <a:prstGeom prst="rect">
            <a:avLst/>
          </a:prstGeom>
          <a:solidFill>
            <a:srgbClr val="9B8FD4"/>
          </a:solidFill>
          <a:ln cap="flat" cmpd="sng" w="12700">
            <a:solidFill>
              <a:srgbClr val="9B8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4"/>
          <p:cNvSpPr/>
          <p:nvPr/>
        </p:nvSpPr>
        <p:spPr>
          <a:xfrm>
            <a:off x="8686800" y="486918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9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4"/>
          <p:cNvSpPr/>
          <p:nvPr/>
        </p:nvSpPr>
        <p:spPr>
          <a:xfrm>
            <a:off x="274320" y="1150000"/>
            <a:ext cx="8595360" cy="2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1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לוגים שימושיים במיוחד באזורי סיכון — כאן הם הכי קריטיים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4"/>
          <p:cNvSpPr/>
          <p:nvPr/>
        </p:nvSpPr>
        <p:spPr>
          <a:xfrm>
            <a:off x="274320" y="1480000"/>
            <a:ext cx="859536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Char char="•"/>
            </a:pPr>
            <a:r>
              <a:rPr b="0" i="0" lang="iw-IL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logger.exception – כותב ERROR + stack trace מלא אוטומטית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Char char="•"/>
            </a:pPr>
            <a:r>
              <a:rPr b="0" i="0" lang="iw-IL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stack trace = פירוט שרשרת הקריאות שהובילה לשגיאה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Char char="•"/>
            </a:pPr>
            <a:r>
              <a:rPr b="0" i="0" lang="iw-IL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כדאי לרשום DEBUG עם ערכי קלט לפני כל אזור מסוכן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4"/>
          <p:cNvSpPr/>
          <p:nvPr/>
        </p:nvSpPr>
        <p:spPr>
          <a:xfrm>
            <a:off x="274320" y="2700000"/>
            <a:ext cx="8595360" cy="2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200" u="none" cap="none" strike="noStrike">
                <a:solidFill>
                  <a:srgbClr val="7C6CE7"/>
                </a:solidFill>
                <a:latin typeface="Calibri"/>
                <a:ea typeface="Calibri"/>
                <a:cs typeface="Calibri"/>
                <a:sym typeface="Calibri"/>
              </a:rPr>
              <a:t>טעויות נפוצות: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4"/>
          <p:cNvSpPr/>
          <p:nvPr/>
        </p:nvSpPr>
        <p:spPr>
          <a:xfrm>
            <a:off x="274320" y="3030000"/>
            <a:ext cx="8595360" cy="1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Char char="•"/>
            </a:pPr>
            <a:r>
              <a:rPr b="0" i="0" lang="iw-IL" sz="1200" u="none" cap="none" strike="noStrike">
                <a:solidFill>
                  <a:srgbClr val="AA2222"/>
                </a:solidFill>
                <a:latin typeface="Calibri"/>
                <a:ea typeface="Calibri"/>
                <a:cs typeface="Calibri"/>
                <a:sym typeface="Calibri"/>
              </a:rPr>
              <a:t>לתפוס חריגה בשקט (except: pass) ללא לוג — הכשל נעלם לחלוטין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Char char="•"/>
            </a:pPr>
            <a:r>
              <a:rPr b="0" i="0" lang="iw-IL" sz="1200" u="none" cap="none" strike="noStrike">
                <a:solidFill>
                  <a:srgbClr val="AA2222"/>
                </a:solidFill>
                <a:latin typeface="Calibri"/>
                <a:ea typeface="Calibri"/>
                <a:cs typeface="Calibri"/>
                <a:sym typeface="Calibri"/>
              </a:rPr>
              <a:t>לא לרשום ערכי קלט לפני הכשל — קשה לשחזר מה גרם לשגיאה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Char char="•"/>
            </a:pPr>
            <a:r>
              <a:rPr b="0" i="0" lang="iw-IL" sz="1200" u="none" cap="none" strike="noStrike">
                <a:solidFill>
                  <a:srgbClr val="AA2222"/>
                </a:solidFill>
                <a:latin typeface="Calibri"/>
                <a:ea typeface="Calibri"/>
                <a:cs typeface="Calibri"/>
                <a:sym typeface="Calibri"/>
              </a:rPr>
              <a:t>להחזיר None בלי תיעוד — מסתיר את הכשל משאר המערכת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5"/>
          <p:cNvSpPr/>
          <p:nvPr/>
        </p:nvSpPr>
        <p:spPr>
          <a:xfrm>
            <a:off x="0" y="164592"/>
            <a:ext cx="9144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5"/>
          <p:cNvSpPr/>
          <p:nvPr/>
        </p:nvSpPr>
        <p:spPr>
          <a:xfrm>
            <a:off x="0" y="530352"/>
            <a:ext cx="9144000" cy="41148"/>
          </a:xfrm>
          <a:prstGeom prst="rect">
            <a:avLst/>
          </a:prstGeom>
          <a:solidFill>
            <a:srgbClr val="00BFA5"/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5"/>
          <p:cNvSpPr/>
          <p:nvPr/>
        </p:nvSpPr>
        <p:spPr>
          <a:xfrm>
            <a:off x="274320" y="621792"/>
            <a:ext cx="8595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800" u="none" cap="none" strike="noStrike">
                <a:solidFill>
                  <a:srgbClr val="7C6CE7"/>
                </a:solidFill>
                <a:latin typeface="Calibri"/>
                <a:ea typeface="Calibri"/>
                <a:cs typeface="Calibri"/>
                <a:sym typeface="Calibri"/>
              </a:rPr>
              <a:t>לוגים סביב try/except – דוגמת קוד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5"/>
          <p:cNvSpPr/>
          <p:nvPr/>
        </p:nvSpPr>
        <p:spPr>
          <a:xfrm>
            <a:off x="274320" y="1078992"/>
            <a:ext cx="8595360" cy="27432"/>
          </a:xfrm>
          <a:prstGeom prst="rect">
            <a:avLst/>
          </a:prstGeom>
          <a:solidFill>
            <a:srgbClr val="9B8FD4"/>
          </a:solidFill>
          <a:ln cap="flat" cmpd="sng" w="12700">
            <a:solidFill>
              <a:srgbClr val="9B8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5"/>
          <p:cNvSpPr/>
          <p:nvPr/>
        </p:nvSpPr>
        <p:spPr>
          <a:xfrm>
            <a:off x="8686800" y="486918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9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5"/>
          <p:cNvSpPr/>
          <p:nvPr/>
        </p:nvSpPr>
        <p:spPr>
          <a:xfrm>
            <a:off x="274320" y="1150000"/>
            <a:ext cx="8595360" cy="2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1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שימוש נכון ב-logger.exception — כולל ערכי קלט ו-stack trace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5"/>
          <p:cNvSpPr/>
          <p:nvPr/>
        </p:nvSpPr>
        <p:spPr>
          <a:xfrm>
            <a:off x="274320" y="1480000"/>
            <a:ext cx="5500000" cy="3200000"/>
          </a:xfrm>
          <a:prstGeom prst="rect">
            <a:avLst/>
          </a:prstGeom>
          <a:solidFill>
            <a:srgbClr val="F7FBF9"/>
          </a:solidFill>
          <a:ln cap="flat" cmpd="sng" w="1905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5"/>
          <p:cNvSpPr/>
          <p:nvPr/>
        </p:nvSpPr>
        <p:spPr>
          <a:xfrm>
            <a:off x="274320" y="1480000"/>
            <a:ext cx="64008" cy="3200000"/>
          </a:xfrm>
          <a:prstGeom prst="rect">
            <a:avLst/>
          </a:prstGeom>
          <a:solidFill>
            <a:srgbClr val="00BFA5"/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5"/>
          <p:cNvSpPr/>
          <p:nvPr/>
        </p:nvSpPr>
        <p:spPr>
          <a:xfrm>
            <a:off x="384320" y="1525700"/>
            <a:ext cx="5350000" cy="31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import logging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logging.basicConfig(level=logging.DEBUG,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    format='%(asctime)s | %(levelname)s | %(message)s')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logger = logging.getLogger(__name__)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def divide(a, b):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    logger.debug('divide: a=%s, b=%s', a, b)  # ערכי קלט לפני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    try: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        result = a / 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        logger.info('Division result: %s', result)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 result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    except ZeroDivisionError: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        logger.exception('Division failed – b was zero')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 None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divide(10, 2)   # DEBUG + INFO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iw-IL" sz="950" u="none" cap="none" strike="noStrike">
                <a:solidFill>
                  <a:srgbClr val="1A5C45"/>
                </a:solidFill>
                <a:latin typeface="Courier New"/>
                <a:ea typeface="Courier New"/>
                <a:cs typeface="Courier New"/>
                <a:sym typeface="Courier New"/>
              </a:rPr>
              <a:t>divide(10, 0)   # DEBUG + ERROR + stack trace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5"/>
          <p:cNvSpPr/>
          <p:nvPr/>
        </p:nvSpPr>
        <p:spPr>
          <a:xfrm>
            <a:off x="6050000" y="1480000"/>
            <a:ext cx="2800000" cy="72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5"/>
          <p:cNvSpPr/>
          <p:nvPr/>
        </p:nvSpPr>
        <p:spPr>
          <a:xfrm>
            <a:off x="6050000" y="1480000"/>
            <a:ext cx="64008" cy="720000"/>
          </a:xfrm>
          <a:prstGeom prst="rect">
            <a:avLst/>
          </a:prstGeom>
          <a:solidFill>
            <a:srgbClr val="00BFA5"/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5"/>
          <p:cNvSpPr/>
          <p:nvPr/>
        </p:nvSpPr>
        <p:spPr>
          <a:xfrm>
            <a:off x="6150000" y="1530000"/>
            <a:ext cx="265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100" u="none" cap="none" strike="noStrike">
                <a:solidFill>
                  <a:srgbClr val="7C6CE7"/>
                </a:solidFill>
                <a:latin typeface="Calibri"/>
                <a:ea typeface="Calibri"/>
                <a:cs typeface="Calibri"/>
                <a:sym typeface="Calibri"/>
              </a:rPr>
              <a:t>logger.debug לפני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5"/>
          <p:cNvSpPr/>
          <p:nvPr/>
        </p:nvSpPr>
        <p:spPr>
          <a:xfrm>
            <a:off x="6150000" y="1860000"/>
            <a:ext cx="2650000" cy="2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ערכי קלט — לשחזור אחרי כשל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5"/>
          <p:cNvSpPr/>
          <p:nvPr/>
        </p:nvSpPr>
        <p:spPr>
          <a:xfrm>
            <a:off x="6050000" y="2320000"/>
            <a:ext cx="2800000" cy="72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5"/>
          <p:cNvSpPr/>
          <p:nvPr/>
        </p:nvSpPr>
        <p:spPr>
          <a:xfrm>
            <a:off x="6050000" y="2320000"/>
            <a:ext cx="64008" cy="720000"/>
          </a:xfrm>
          <a:prstGeom prst="rect">
            <a:avLst/>
          </a:prstGeom>
          <a:solidFill>
            <a:srgbClr val="00BFA5"/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5"/>
          <p:cNvSpPr/>
          <p:nvPr/>
        </p:nvSpPr>
        <p:spPr>
          <a:xfrm>
            <a:off x="6150000" y="2370000"/>
            <a:ext cx="265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100" u="none" cap="none" strike="noStrike">
                <a:solidFill>
                  <a:srgbClr val="7C6CE7"/>
                </a:solidFill>
                <a:latin typeface="Calibri"/>
                <a:ea typeface="Calibri"/>
                <a:cs typeface="Calibri"/>
                <a:sym typeface="Calibri"/>
              </a:rPr>
              <a:t>logger.exception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5"/>
          <p:cNvSpPr/>
          <p:nvPr/>
        </p:nvSpPr>
        <p:spPr>
          <a:xfrm>
            <a:off x="6150000" y="2700000"/>
            <a:ext cx="2650000" cy="2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ERROR + stack trace אוטומטי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5"/>
          <p:cNvSpPr/>
          <p:nvPr/>
        </p:nvSpPr>
        <p:spPr>
          <a:xfrm>
            <a:off x="6050000" y="3160000"/>
            <a:ext cx="2800000" cy="72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5"/>
          <p:cNvSpPr/>
          <p:nvPr/>
        </p:nvSpPr>
        <p:spPr>
          <a:xfrm>
            <a:off x="6050000" y="3160000"/>
            <a:ext cx="64008" cy="720000"/>
          </a:xfrm>
          <a:prstGeom prst="rect">
            <a:avLst/>
          </a:prstGeom>
          <a:solidFill>
            <a:srgbClr val="00BFA5"/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5"/>
          <p:cNvSpPr/>
          <p:nvPr/>
        </p:nvSpPr>
        <p:spPr>
          <a:xfrm>
            <a:off x="6150000" y="3210000"/>
            <a:ext cx="265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100" u="none" cap="none" strike="noStrike">
                <a:solidFill>
                  <a:srgbClr val="7C6CE7"/>
                </a:solidFill>
                <a:latin typeface="Calibri"/>
                <a:ea typeface="Calibri"/>
                <a:cs typeface="Calibri"/>
                <a:sym typeface="Calibri"/>
              </a:rPr>
              <a:t>return None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5"/>
          <p:cNvSpPr/>
          <p:nvPr/>
        </p:nvSpPr>
        <p:spPr>
          <a:xfrm>
            <a:off x="6150000" y="3540000"/>
            <a:ext cx="2650000" cy="2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עם תיעוד — לא מסתיר את הכשל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8"/>
          <p:cNvSpPr/>
          <p:nvPr/>
        </p:nvSpPr>
        <p:spPr>
          <a:xfrm>
            <a:off x="0" y="164592"/>
            <a:ext cx="9144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8"/>
          <p:cNvSpPr/>
          <p:nvPr/>
        </p:nvSpPr>
        <p:spPr>
          <a:xfrm>
            <a:off x="0" y="530352"/>
            <a:ext cx="9144000" cy="41148"/>
          </a:xfrm>
          <a:prstGeom prst="rect">
            <a:avLst/>
          </a:prstGeom>
          <a:solidFill>
            <a:srgbClr val="00BFA5"/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8"/>
          <p:cNvSpPr/>
          <p:nvPr/>
        </p:nvSpPr>
        <p:spPr>
          <a:xfrm>
            <a:off x="274320" y="621792"/>
            <a:ext cx="8595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800" u="none" cap="none" strike="noStrike">
                <a:solidFill>
                  <a:srgbClr val="7C6CE7"/>
                </a:solidFill>
                <a:latin typeface="Calibri"/>
                <a:ea typeface="Calibri"/>
                <a:cs typeface="Calibri"/>
                <a:sym typeface="Calibri"/>
              </a:rPr>
              <a:t>טעויות נפוצות – סיכום כולל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8"/>
          <p:cNvSpPr/>
          <p:nvPr/>
        </p:nvSpPr>
        <p:spPr>
          <a:xfrm>
            <a:off x="274320" y="1078992"/>
            <a:ext cx="8595360" cy="27432"/>
          </a:xfrm>
          <a:prstGeom prst="rect">
            <a:avLst/>
          </a:prstGeom>
          <a:solidFill>
            <a:srgbClr val="9B8FD4"/>
          </a:solidFill>
          <a:ln cap="flat" cmpd="sng" w="12700">
            <a:solidFill>
              <a:srgbClr val="9B8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8"/>
          <p:cNvSpPr/>
          <p:nvPr/>
        </p:nvSpPr>
        <p:spPr>
          <a:xfrm>
            <a:off x="8686800" y="486918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9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8"/>
          <p:cNvSpPr/>
          <p:nvPr/>
        </p:nvSpPr>
        <p:spPr>
          <a:xfrm>
            <a:off x="274320" y="1150000"/>
            <a:ext cx="8595360" cy="2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1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הטעויות שהכי הרבה מפתחים עושים — חשוב להכיר ולהימנע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8"/>
          <p:cNvSpPr/>
          <p:nvPr/>
        </p:nvSpPr>
        <p:spPr>
          <a:xfrm>
            <a:off x="274320" y="1500000"/>
            <a:ext cx="4200000" cy="720000"/>
          </a:xfrm>
          <a:prstGeom prst="rect">
            <a:avLst/>
          </a:prstGeom>
          <a:solidFill>
            <a:srgbClr val="FFF0F0"/>
          </a:solidFill>
          <a:ln cap="flat" cmpd="sng" w="15225">
            <a:solidFill>
              <a:srgbClr val="CC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8"/>
          <p:cNvSpPr/>
          <p:nvPr/>
        </p:nvSpPr>
        <p:spPr>
          <a:xfrm>
            <a:off x="374320" y="1550000"/>
            <a:ext cx="4000000" cy="6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150" u="none" cap="none" strike="noStrike">
                <a:solidFill>
                  <a:srgbClr val="AA2222"/>
                </a:solidFill>
                <a:latin typeface="Calibri"/>
                <a:ea typeface="Calibri"/>
                <a:cs typeface="Calibri"/>
                <a:sym typeface="Calibri"/>
              </a:rPr>
              <a:t>✗  להשתמש ב-print בכל מקום – עדיף logging עקבי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8"/>
          <p:cNvSpPr/>
          <p:nvPr/>
        </p:nvSpPr>
        <p:spPr>
          <a:xfrm>
            <a:off x="4724320" y="1500000"/>
            <a:ext cx="4200000" cy="720000"/>
          </a:xfrm>
          <a:prstGeom prst="rect">
            <a:avLst/>
          </a:prstGeom>
          <a:solidFill>
            <a:srgbClr val="FFF0F0"/>
          </a:solidFill>
          <a:ln cap="flat" cmpd="sng" w="15225">
            <a:solidFill>
              <a:srgbClr val="CC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8"/>
          <p:cNvSpPr/>
          <p:nvPr/>
        </p:nvSpPr>
        <p:spPr>
          <a:xfrm>
            <a:off x="4824320" y="1550000"/>
            <a:ext cx="4000000" cy="6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150" u="none" cap="none" strike="noStrike">
                <a:solidFill>
                  <a:srgbClr val="AA2222"/>
                </a:solidFill>
                <a:latin typeface="Calibri"/>
                <a:ea typeface="Calibri"/>
                <a:cs typeface="Calibri"/>
                <a:sym typeface="Calibri"/>
              </a:rPr>
              <a:t>✗  לשים לוגים רק כשיש תקלה – לתכנן מראש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8"/>
          <p:cNvSpPr/>
          <p:nvPr/>
        </p:nvSpPr>
        <p:spPr>
          <a:xfrm>
            <a:off x="274320" y="2340000"/>
            <a:ext cx="4200000" cy="720000"/>
          </a:xfrm>
          <a:prstGeom prst="rect">
            <a:avLst/>
          </a:prstGeom>
          <a:solidFill>
            <a:srgbClr val="FFF0F0"/>
          </a:solidFill>
          <a:ln cap="flat" cmpd="sng" w="15225">
            <a:solidFill>
              <a:srgbClr val="CC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8"/>
          <p:cNvSpPr/>
          <p:nvPr/>
        </p:nvSpPr>
        <p:spPr>
          <a:xfrm>
            <a:off x="374320" y="2390000"/>
            <a:ext cx="4000000" cy="6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150" u="none" cap="none" strike="noStrike">
                <a:solidFill>
                  <a:srgbClr val="AA2222"/>
                </a:solidFill>
                <a:latin typeface="Calibri"/>
                <a:ea typeface="Calibri"/>
                <a:cs typeface="Calibri"/>
                <a:sym typeface="Calibri"/>
              </a:rPr>
              <a:t>✗  לכתוב הודעות עמומות: 'ok', 'done' – ללא הקשר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8"/>
          <p:cNvSpPr/>
          <p:nvPr/>
        </p:nvSpPr>
        <p:spPr>
          <a:xfrm>
            <a:off x="4724320" y="2340000"/>
            <a:ext cx="4200000" cy="720000"/>
          </a:xfrm>
          <a:prstGeom prst="rect">
            <a:avLst/>
          </a:prstGeom>
          <a:solidFill>
            <a:srgbClr val="FFF0F0"/>
          </a:solidFill>
          <a:ln cap="flat" cmpd="sng" w="15225">
            <a:solidFill>
              <a:srgbClr val="CC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8"/>
          <p:cNvSpPr/>
          <p:nvPr/>
        </p:nvSpPr>
        <p:spPr>
          <a:xfrm>
            <a:off x="4824320" y="2390000"/>
            <a:ext cx="4000000" cy="6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150" u="none" cap="none" strike="noStrike">
                <a:solidFill>
                  <a:srgbClr val="AA2222"/>
                </a:solidFill>
                <a:latin typeface="Calibri"/>
                <a:ea typeface="Calibri"/>
                <a:cs typeface="Calibri"/>
                <a:sym typeface="Calibri"/>
              </a:rPr>
              <a:t>✗  לרשום סיסמאות ומידע רגיש – פרצת אבטחה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8"/>
          <p:cNvSpPr/>
          <p:nvPr/>
        </p:nvSpPr>
        <p:spPr>
          <a:xfrm>
            <a:off x="274320" y="3180000"/>
            <a:ext cx="4200000" cy="720000"/>
          </a:xfrm>
          <a:prstGeom prst="rect">
            <a:avLst/>
          </a:prstGeom>
          <a:solidFill>
            <a:srgbClr val="FFF0F0"/>
          </a:solidFill>
          <a:ln cap="flat" cmpd="sng" w="15225">
            <a:solidFill>
              <a:srgbClr val="CC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8"/>
          <p:cNvSpPr/>
          <p:nvPr/>
        </p:nvSpPr>
        <p:spPr>
          <a:xfrm>
            <a:off x="374320" y="3230000"/>
            <a:ext cx="4000000" cy="6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150" u="none" cap="none" strike="noStrike">
                <a:solidFill>
                  <a:srgbClr val="AA2222"/>
                </a:solidFill>
                <a:latin typeface="Calibri"/>
                <a:ea typeface="Calibri"/>
                <a:cs typeface="Calibri"/>
                <a:sym typeface="Calibri"/>
              </a:rPr>
              <a:t>✗  לכתוב הצלחות כ-ERROR – בלבול ברמות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8"/>
          <p:cNvSpPr/>
          <p:nvPr/>
        </p:nvSpPr>
        <p:spPr>
          <a:xfrm>
            <a:off x="4724320" y="3180000"/>
            <a:ext cx="4200000" cy="720000"/>
          </a:xfrm>
          <a:prstGeom prst="rect">
            <a:avLst/>
          </a:prstGeom>
          <a:solidFill>
            <a:srgbClr val="FFF0F0"/>
          </a:solidFill>
          <a:ln cap="flat" cmpd="sng" w="15225">
            <a:solidFill>
              <a:srgbClr val="CC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8"/>
          <p:cNvSpPr/>
          <p:nvPr/>
        </p:nvSpPr>
        <p:spPr>
          <a:xfrm>
            <a:off x="4824320" y="3230000"/>
            <a:ext cx="4000000" cy="6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150" u="none" cap="none" strike="noStrike">
                <a:solidFill>
                  <a:srgbClr val="AA2222"/>
                </a:solidFill>
                <a:latin typeface="Calibri"/>
                <a:ea typeface="Calibri"/>
                <a:cs typeface="Calibri"/>
                <a:sym typeface="Calibri"/>
              </a:rPr>
              <a:t>✗  להשאיר DEBUG בפרודקשן – רעש מיותר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8"/>
          <p:cNvSpPr/>
          <p:nvPr/>
        </p:nvSpPr>
        <p:spPr>
          <a:xfrm>
            <a:off x="274320" y="4020000"/>
            <a:ext cx="4200000" cy="720000"/>
          </a:xfrm>
          <a:prstGeom prst="rect">
            <a:avLst/>
          </a:prstGeom>
          <a:solidFill>
            <a:srgbClr val="FFF0F0"/>
          </a:solidFill>
          <a:ln cap="flat" cmpd="sng" w="15225">
            <a:solidFill>
              <a:srgbClr val="CC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8"/>
          <p:cNvSpPr/>
          <p:nvPr/>
        </p:nvSpPr>
        <p:spPr>
          <a:xfrm>
            <a:off x="374320" y="4070000"/>
            <a:ext cx="4000000" cy="6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150" u="none" cap="none" strike="noStrike">
                <a:solidFill>
                  <a:srgbClr val="AA2222"/>
                </a:solidFill>
                <a:latin typeface="Calibri"/>
                <a:ea typeface="Calibri"/>
                <a:cs typeface="Calibri"/>
                <a:sym typeface="Calibri"/>
              </a:rPr>
              <a:t>✗  לתפוס חריגה בשקט בלי לוג – מסתיר כשלים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8"/>
          <p:cNvSpPr/>
          <p:nvPr/>
        </p:nvSpPr>
        <p:spPr>
          <a:xfrm>
            <a:off x="4724320" y="4020000"/>
            <a:ext cx="4200000" cy="720000"/>
          </a:xfrm>
          <a:prstGeom prst="rect">
            <a:avLst/>
          </a:prstGeom>
          <a:solidFill>
            <a:srgbClr val="FFF0F0"/>
          </a:solidFill>
          <a:ln cap="flat" cmpd="sng" w="15225">
            <a:solidFill>
              <a:srgbClr val="CC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8"/>
          <p:cNvSpPr/>
          <p:nvPr/>
        </p:nvSpPr>
        <p:spPr>
          <a:xfrm>
            <a:off x="4824320" y="4070000"/>
            <a:ext cx="4000000" cy="6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150" u="none" cap="none" strike="noStrike">
                <a:solidFill>
                  <a:srgbClr val="AA2222"/>
                </a:solidFill>
                <a:latin typeface="Calibri"/>
                <a:ea typeface="Calibri"/>
                <a:cs typeface="Calibri"/>
                <a:sym typeface="Calibri"/>
              </a:rPr>
              <a:t>✗  לשמור לוג בלי Formatter – חוסר אחידות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9"/>
          <p:cNvSpPr/>
          <p:nvPr/>
        </p:nvSpPr>
        <p:spPr>
          <a:xfrm>
            <a:off x="0" y="164592"/>
            <a:ext cx="9144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9"/>
          <p:cNvSpPr/>
          <p:nvPr/>
        </p:nvSpPr>
        <p:spPr>
          <a:xfrm>
            <a:off x="0" y="530352"/>
            <a:ext cx="9144000" cy="41148"/>
          </a:xfrm>
          <a:prstGeom prst="rect">
            <a:avLst/>
          </a:prstGeom>
          <a:solidFill>
            <a:srgbClr val="00BFA5"/>
          </a:solidFill>
          <a:ln cap="flat" cmpd="sng" w="12700">
            <a:solidFill>
              <a:srgbClr val="00B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9"/>
          <p:cNvSpPr/>
          <p:nvPr/>
        </p:nvSpPr>
        <p:spPr>
          <a:xfrm>
            <a:off x="274320" y="621792"/>
            <a:ext cx="8595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800" u="none" cap="none" strike="noStrike">
                <a:solidFill>
                  <a:srgbClr val="7C6CE7"/>
                </a:solidFill>
                <a:latin typeface="Calibri"/>
                <a:ea typeface="Calibri"/>
                <a:cs typeface="Calibri"/>
                <a:sym typeface="Calibri"/>
              </a:rPr>
              <a:t>10 נקודות שמגדירות הבנה מלאה של הנושא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9"/>
          <p:cNvSpPr/>
          <p:nvPr/>
        </p:nvSpPr>
        <p:spPr>
          <a:xfrm>
            <a:off x="274320" y="1078992"/>
            <a:ext cx="8595360" cy="27432"/>
          </a:xfrm>
          <a:prstGeom prst="rect">
            <a:avLst/>
          </a:prstGeom>
          <a:solidFill>
            <a:srgbClr val="9B8FD4"/>
          </a:solidFill>
          <a:ln cap="flat" cmpd="sng" w="12700">
            <a:solidFill>
              <a:srgbClr val="9B8F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9"/>
          <p:cNvSpPr/>
          <p:nvPr/>
        </p:nvSpPr>
        <p:spPr>
          <a:xfrm>
            <a:off x="8686800" y="486918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9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9"/>
          <p:cNvSpPr/>
          <p:nvPr/>
        </p:nvSpPr>
        <p:spPr>
          <a:xfrm>
            <a:off x="274320" y="1400000"/>
            <a:ext cx="380000" cy="380000"/>
          </a:xfrm>
          <a:prstGeom prst="rect">
            <a:avLst/>
          </a:prstGeom>
          <a:solidFill>
            <a:srgbClr val="EEF2FF"/>
          </a:solidFill>
          <a:ln cap="flat" cmpd="sng" w="15225">
            <a:solidFill>
              <a:srgbClr val="7C6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9"/>
          <p:cNvSpPr/>
          <p:nvPr/>
        </p:nvSpPr>
        <p:spPr>
          <a:xfrm>
            <a:off x="274320" y="1400000"/>
            <a:ext cx="380000" cy="3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400" u="none" cap="none" strike="noStrike">
                <a:solidFill>
                  <a:srgbClr val="7C6CE7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9"/>
          <p:cNvSpPr/>
          <p:nvPr/>
        </p:nvSpPr>
        <p:spPr>
          <a:xfrm>
            <a:off x="774320" y="1300000"/>
            <a:ext cx="3750000" cy="5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1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להסביר מהו Logging ולמה הוא קריטי לפיתוח ופרודקשן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9"/>
          <p:cNvSpPr/>
          <p:nvPr/>
        </p:nvSpPr>
        <p:spPr>
          <a:xfrm>
            <a:off x="274320" y="2150000"/>
            <a:ext cx="380000" cy="380000"/>
          </a:xfrm>
          <a:prstGeom prst="rect">
            <a:avLst/>
          </a:prstGeom>
          <a:solidFill>
            <a:srgbClr val="EEF2FF"/>
          </a:solidFill>
          <a:ln cap="flat" cmpd="sng" w="15225">
            <a:solidFill>
              <a:srgbClr val="7C6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9"/>
          <p:cNvSpPr/>
          <p:nvPr/>
        </p:nvSpPr>
        <p:spPr>
          <a:xfrm>
            <a:off x="274320" y="2150000"/>
            <a:ext cx="380000" cy="3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400" u="none" cap="none" strike="noStrike">
                <a:solidFill>
                  <a:srgbClr val="7C6CE7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9"/>
          <p:cNvSpPr/>
          <p:nvPr/>
        </p:nvSpPr>
        <p:spPr>
          <a:xfrm>
            <a:off x="774320" y="2050000"/>
            <a:ext cx="3750000" cy="5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1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להבדיל בין DEBUG, INFO, WARNING ו-ERROR ולהשתמש נכון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9"/>
          <p:cNvSpPr/>
          <p:nvPr/>
        </p:nvSpPr>
        <p:spPr>
          <a:xfrm>
            <a:off x="274320" y="2900000"/>
            <a:ext cx="380000" cy="380000"/>
          </a:xfrm>
          <a:prstGeom prst="rect">
            <a:avLst/>
          </a:prstGeom>
          <a:solidFill>
            <a:srgbClr val="EEF2FF"/>
          </a:solidFill>
          <a:ln cap="flat" cmpd="sng" w="15225">
            <a:solidFill>
              <a:srgbClr val="7C6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9"/>
          <p:cNvSpPr/>
          <p:nvPr/>
        </p:nvSpPr>
        <p:spPr>
          <a:xfrm>
            <a:off x="274320" y="2900000"/>
            <a:ext cx="380000" cy="3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400" u="none" cap="none" strike="noStrike">
                <a:solidFill>
                  <a:srgbClr val="7C6CE7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9"/>
          <p:cNvSpPr/>
          <p:nvPr/>
        </p:nvSpPr>
        <p:spPr>
          <a:xfrm>
            <a:off x="774320" y="2800000"/>
            <a:ext cx="3750000" cy="5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1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לכתוב הודעת לוג ברורה עם הקשר רלוונטי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9"/>
          <p:cNvSpPr/>
          <p:nvPr/>
        </p:nvSpPr>
        <p:spPr>
          <a:xfrm>
            <a:off x="274320" y="3650000"/>
            <a:ext cx="380000" cy="380000"/>
          </a:xfrm>
          <a:prstGeom prst="rect">
            <a:avLst/>
          </a:prstGeom>
          <a:solidFill>
            <a:srgbClr val="EEF2FF"/>
          </a:solidFill>
          <a:ln cap="flat" cmpd="sng" w="15225">
            <a:solidFill>
              <a:srgbClr val="7C6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9"/>
          <p:cNvSpPr/>
          <p:nvPr/>
        </p:nvSpPr>
        <p:spPr>
          <a:xfrm>
            <a:off x="274320" y="3650000"/>
            <a:ext cx="380000" cy="3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400" u="none" cap="none" strike="noStrike">
                <a:solidFill>
                  <a:srgbClr val="7C6CE7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9"/>
          <p:cNvSpPr/>
          <p:nvPr/>
        </p:nvSpPr>
        <p:spPr>
          <a:xfrm>
            <a:off x="774320" y="3550000"/>
            <a:ext cx="3750000" cy="5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1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להימנע מדליפת מידע רגיש בלוגים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9"/>
          <p:cNvSpPr/>
          <p:nvPr/>
        </p:nvSpPr>
        <p:spPr>
          <a:xfrm>
            <a:off x="274320" y="4400000"/>
            <a:ext cx="380000" cy="380000"/>
          </a:xfrm>
          <a:prstGeom prst="rect">
            <a:avLst/>
          </a:prstGeom>
          <a:solidFill>
            <a:srgbClr val="EEF2FF"/>
          </a:solidFill>
          <a:ln cap="flat" cmpd="sng" w="15225">
            <a:solidFill>
              <a:srgbClr val="7C6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9"/>
          <p:cNvSpPr/>
          <p:nvPr/>
        </p:nvSpPr>
        <p:spPr>
          <a:xfrm>
            <a:off x="274320" y="4400000"/>
            <a:ext cx="380000" cy="3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400" u="none" cap="none" strike="noStrike">
                <a:solidFill>
                  <a:srgbClr val="7C6CE7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9"/>
          <p:cNvSpPr/>
          <p:nvPr/>
        </p:nvSpPr>
        <p:spPr>
          <a:xfrm>
            <a:off x="774320" y="4300000"/>
            <a:ext cx="3750000" cy="5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1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להשתמש בפורמט אחיד וקבוע ללוגים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9"/>
          <p:cNvSpPr/>
          <p:nvPr/>
        </p:nvSpPr>
        <p:spPr>
          <a:xfrm>
            <a:off x="4724320" y="1400000"/>
            <a:ext cx="380000" cy="380000"/>
          </a:xfrm>
          <a:prstGeom prst="rect">
            <a:avLst/>
          </a:prstGeom>
          <a:solidFill>
            <a:srgbClr val="EEF2FF"/>
          </a:solidFill>
          <a:ln cap="flat" cmpd="sng" w="15225">
            <a:solidFill>
              <a:srgbClr val="7C6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9"/>
          <p:cNvSpPr/>
          <p:nvPr/>
        </p:nvSpPr>
        <p:spPr>
          <a:xfrm>
            <a:off x="4724320" y="1400000"/>
            <a:ext cx="380000" cy="3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400" u="none" cap="none" strike="noStrike">
                <a:solidFill>
                  <a:srgbClr val="7C6CE7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9"/>
          <p:cNvSpPr/>
          <p:nvPr/>
        </p:nvSpPr>
        <p:spPr>
          <a:xfrm>
            <a:off x="5224320" y="1300000"/>
            <a:ext cx="3750000" cy="5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1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לעבוד עם logging המובנה במקום print אקראי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9"/>
          <p:cNvSpPr/>
          <p:nvPr/>
        </p:nvSpPr>
        <p:spPr>
          <a:xfrm>
            <a:off x="4724320" y="2150000"/>
            <a:ext cx="380000" cy="380000"/>
          </a:xfrm>
          <a:prstGeom prst="rect">
            <a:avLst/>
          </a:prstGeom>
          <a:solidFill>
            <a:srgbClr val="EEF2FF"/>
          </a:solidFill>
          <a:ln cap="flat" cmpd="sng" w="15225">
            <a:solidFill>
              <a:srgbClr val="7C6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9"/>
          <p:cNvSpPr/>
          <p:nvPr/>
        </p:nvSpPr>
        <p:spPr>
          <a:xfrm>
            <a:off x="4724320" y="2150000"/>
            <a:ext cx="380000" cy="3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400" u="none" cap="none" strike="noStrike">
                <a:solidFill>
                  <a:srgbClr val="7C6CE7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9"/>
          <p:cNvSpPr/>
          <p:nvPr/>
        </p:nvSpPr>
        <p:spPr>
          <a:xfrm>
            <a:off x="5224320" y="2050000"/>
            <a:ext cx="3750000" cy="5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1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לשמור לוגים לקובץ עם FileHandler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9"/>
          <p:cNvSpPr/>
          <p:nvPr/>
        </p:nvSpPr>
        <p:spPr>
          <a:xfrm>
            <a:off x="4724320" y="2900000"/>
            <a:ext cx="380000" cy="380000"/>
          </a:xfrm>
          <a:prstGeom prst="rect">
            <a:avLst/>
          </a:prstGeom>
          <a:solidFill>
            <a:srgbClr val="EEF2FF"/>
          </a:solidFill>
          <a:ln cap="flat" cmpd="sng" w="15225">
            <a:solidFill>
              <a:srgbClr val="7C6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9"/>
          <p:cNvSpPr/>
          <p:nvPr/>
        </p:nvSpPr>
        <p:spPr>
          <a:xfrm>
            <a:off x="4724320" y="2900000"/>
            <a:ext cx="380000" cy="3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400" u="none" cap="none" strike="noStrike">
                <a:solidFill>
                  <a:srgbClr val="7C6CE7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9"/>
          <p:cNvSpPr/>
          <p:nvPr/>
        </p:nvSpPr>
        <p:spPr>
          <a:xfrm>
            <a:off x="5224320" y="2800000"/>
            <a:ext cx="3750000" cy="5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1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להבין את התפקיד של logger, handler ו-formatter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9"/>
          <p:cNvSpPr/>
          <p:nvPr/>
        </p:nvSpPr>
        <p:spPr>
          <a:xfrm>
            <a:off x="4724320" y="3650000"/>
            <a:ext cx="380000" cy="380000"/>
          </a:xfrm>
          <a:prstGeom prst="rect">
            <a:avLst/>
          </a:prstGeom>
          <a:solidFill>
            <a:srgbClr val="EEF2FF"/>
          </a:solidFill>
          <a:ln cap="flat" cmpd="sng" w="15225">
            <a:solidFill>
              <a:srgbClr val="7C6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9"/>
          <p:cNvSpPr/>
          <p:nvPr/>
        </p:nvSpPr>
        <p:spPr>
          <a:xfrm>
            <a:off x="4724320" y="3650000"/>
            <a:ext cx="380000" cy="3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400" u="none" cap="none" strike="noStrike">
                <a:solidFill>
                  <a:srgbClr val="7C6CE7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9"/>
          <p:cNvSpPr/>
          <p:nvPr/>
        </p:nvSpPr>
        <p:spPr>
          <a:xfrm>
            <a:off x="5224320" y="3550000"/>
            <a:ext cx="3750000" cy="5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1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להשתמש ב-logger.exception סביב חריגות משמעותיות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9"/>
          <p:cNvSpPr/>
          <p:nvPr/>
        </p:nvSpPr>
        <p:spPr>
          <a:xfrm>
            <a:off x="4724320" y="4400000"/>
            <a:ext cx="380000" cy="380000"/>
          </a:xfrm>
          <a:prstGeom prst="rect">
            <a:avLst/>
          </a:prstGeom>
          <a:solidFill>
            <a:srgbClr val="EEF2FF"/>
          </a:solidFill>
          <a:ln cap="flat" cmpd="sng" w="15225">
            <a:solidFill>
              <a:srgbClr val="7C6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9"/>
          <p:cNvSpPr/>
          <p:nvPr/>
        </p:nvSpPr>
        <p:spPr>
          <a:xfrm>
            <a:off x="4724320" y="4400000"/>
            <a:ext cx="380000" cy="3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iw-IL" sz="1400" u="none" cap="none" strike="noStrike">
                <a:solidFill>
                  <a:srgbClr val="7C6CE7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9"/>
          <p:cNvSpPr/>
          <p:nvPr/>
        </p:nvSpPr>
        <p:spPr>
          <a:xfrm>
            <a:off x="5224320" y="4300000"/>
            <a:ext cx="3750000" cy="5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iw-IL" sz="11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לשפר קוד קיים כך שהלוגים יהיו מקצועיים וקריאים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2026-05-04T14:40:38Z</dcterms:created>
  <dc:creator>PptxGenJS</dc:creator>
</cp:coreProperties>
</file>